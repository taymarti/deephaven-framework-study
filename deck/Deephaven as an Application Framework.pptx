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eefd456b-413e-baec-58cd-3b01f9d2698e}">
          <p14:sldIdLst>
            <p14:sldId id="256"/>
            <p14:sldId id="257"/>
            <p14:sldId id="258"/>
          </p14:sldIdLst>
        </p14:section>
        <p14:section name="The runtime in space" id="{0f4f9646-a2c5-27db-71c3-f8bd86681406}">
          <p14:sldIdLst>
            <p14:sldId id="259"/>
            <p14:sldId id="260"/>
            <p14:sldId id="261"/>
            <p14:sldId id="262"/>
            <p14:sldId id="263"/>
          </p14:sldIdLst>
        </p14:section>
        <p14:section name="The runtime in time" id="{c9a2b91a-0433-059e-6901-487d79e38742}">
          <p14:sldIdLst>
            <p14:sldId id="264"/>
            <p14:sldId id="265"/>
            <p14:sldId id="266"/>
            <p14:sldId id="267"/>
            <p14:sldId id="268"/>
            <p14:sldId id="269"/>
            <p14:sldId id="270"/>
          </p14:sldIdLst>
        </p14:section>
        <p14:section name="Hosting and placement" id="{743dca8f-8a16-8d47-96e7-7804946b4e5a}">
          <p14:sldIdLst>
            <p14:sldId id="271"/>
            <p14:sldId id="272"/>
            <p14:sldId id="273"/>
            <p14:sldId id="274"/>
            <p14:sldId id="275"/>
            <p14:sldId id="276"/>
          </p14:sldIdLst>
        </p14:section>
        <p14:section name="Next steps" id="{a5a9383f-a5ac-e8a9-9d9c-961d3a3943d3}">
          <p14:sldIdLst>
            <p14:sldId id="277"/>
          </p14:sldIdLst>
        </p14:section>
        <p14:section name="Appendix" id="{a91f9d7a-0203-d611-45a7-309a6b3ae551}">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Python listener</c:v>
                </c:pt>
              </c:strCache>
            </c:strRef>
          </c:tx>
          <c:spPr>
            <a:solidFill>
              <a:srgbClr val="E874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ex4 synchronizer</c:v>
                  </c:pt>
                  <c:pt idx="1">
                    <c:v>ex3 SignalTracker</c:v>
                  </c:pt>
                  <c:pt idx="2">
                    <c:v>update_by (rolling)</c:v>
                  </c:pt>
                  <c:pt idx="3">
                    <c:v>ex2_trades update</c:v>
                  </c:pt>
                  <c:pt idx="4">
                    <c:v>ex2_vwap agg_by</c:v>
                  </c:pt>
                  <c:pt idx="5">
                    <c:v>ex4_orders feed</c:v>
                  </c:pt>
                  <c:pt idx="6">
                    <c:v>ex2_bars agg_by</c:v>
                  </c:pt>
                  <c:pt idx="7">
                    <c:v>natural_join</c:v>
                  </c:pt>
                  <c:pt idx="8">
                    <c:v>time_table 0.1 s</c:v>
                  </c:pt>
                </c:lvl>
              </c:multiLvlStrCache>
            </c:multiLvlStrRef>
          </c:cat>
          <c:val>
            <c:numRef>
              <c:f>Sheet1!$B$2:$B$10</c:f>
              <c:numCache>
                <c:formatCode>General</c:formatCode>
                <c:ptCount val="9"/>
                <c:pt idx="0">
                  <c:v>197.1</c:v>
                </c:pt>
                <c:pt idx="1">
                  <c:v>195</c:v>
                </c:pt>
                <c:pt idx="2">
                  <c:v>0</c:v>
                </c:pt>
                <c:pt idx="3">
                  <c:v>0</c:v>
                </c:pt>
                <c:pt idx="4">
                  <c:v>0</c:v>
                </c:pt>
                <c:pt idx="5">
                  <c:v>0</c:v>
                </c:pt>
                <c:pt idx="6">
                  <c:v>0</c:v>
                </c:pt>
                <c:pt idx="7">
                  <c:v>0</c:v>
                </c:pt>
                <c:pt idx="8">
                  <c:v>0</c:v>
                </c:pt>
              </c:numCache>
            </c:numRef>
          </c:val>
        </c:ser>
        <c:ser>
          <c:idx val="1"/>
          <c:order val="1"/>
          <c:tx>
            <c:strRef>
              <c:f>Sheet1!$C$1</c:f>
              <c:strCache>
                <c:ptCount val="1"/>
                <c:pt idx="0">
                  <c:v>Java table operation</c:v>
                </c:pt>
              </c:strCache>
            </c:strRef>
          </c:tx>
          <c:spPr>
            <a:solidFill>
              <a:srgbClr val="2F6FD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ex4 synchronizer</c:v>
                  </c:pt>
                  <c:pt idx="1">
                    <c:v>ex3 SignalTracker</c:v>
                  </c:pt>
                  <c:pt idx="2">
                    <c:v>update_by (rolling)</c:v>
                  </c:pt>
                  <c:pt idx="3">
                    <c:v>ex2_trades update</c:v>
                  </c:pt>
                  <c:pt idx="4">
                    <c:v>ex2_vwap agg_by</c:v>
                  </c:pt>
                  <c:pt idx="5">
                    <c:v>ex4_orders feed</c:v>
                  </c:pt>
                  <c:pt idx="6">
                    <c:v>ex2_bars agg_by</c:v>
                  </c:pt>
                  <c:pt idx="7">
                    <c:v>natural_join</c:v>
                  </c:pt>
                  <c:pt idx="8">
                    <c:v>time_table 0.1 s</c:v>
                  </c:pt>
                </c:lvl>
              </c:multiLvlStrCache>
            </c:multiLvlStrRef>
          </c:cat>
          <c:val>
            <c:numRef>
              <c:f>Sheet1!$C$2:$C$10</c:f>
              <c:numCache>
                <c:formatCode>General</c:formatCode>
                <c:ptCount val="9"/>
                <c:pt idx="0">
                  <c:v>0</c:v>
                </c:pt>
                <c:pt idx="1">
                  <c:v>0</c:v>
                </c:pt>
                <c:pt idx="2">
                  <c:v>80.5</c:v>
                </c:pt>
                <c:pt idx="3">
                  <c:v>36</c:v>
                </c:pt>
                <c:pt idx="4">
                  <c:v>26</c:v>
                </c:pt>
                <c:pt idx="5">
                  <c:v>21.2</c:v>
                </c:pt>
                <c:pt idx="6">
                  <c:v>19.2</c:v>
                </c:pt>
                <c:pt idx="7">
                  <c:v>10</c:v>
                </c:pt>
                <c:pt idx="8">
                  <c:v>4.2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7212B"/>
                </a:solidFill>
                <a:latin typeface="+mn-lt"/>
              </a:defRPr>
            </a:pPr>
            <a:endParaRPr lang="en-US"/>
          </a:p>
        </c:txPr>
        <c:crossAx val="2094734552"/>
        <c:crosses val="autoZero"/>
        <c:auto val="1"/>
        <c:lblAlgn val="ctr"/>
        <c:noMultiLvlLbl val="1"/>
      </c:catAx>
      <c:valAx>
        <c:axId val="2094734552"/>
        <c:scaling>
          <c:orientation val="minMax"/>
          <c:max val="200"/>
          <c:min val="0"/>
        </c:scaling>
        <c:delete val="0"/>
        <c:axPos val="b"/>
        <c:majorGridlines>
          <c:spPr>
            <a:ln w="9525" cap="flat">
              <a:solidFill>
                <a:srgbClr val="DDE3EA"/>
              </a:solidFill>
              <a:prstDash val="solid"/>
              <a:round/>
            </a:ln>
          </c:spPr>
        </c:majorGridlines>
        <c:title>
          <c:tx>
            <c:rich>
              <a:bodyPr/>
              <a:lstStyle/>
              <a:p>
                <a:pPr>
                  <a:defRPr sz="1100" b="0" i="0" u="none" strike="noStrike">
                    <a:solidFill>
                      <a:srgbClr val="5F6F82"/>
                    </a:solidFill>
                    <a:latin typeface="Arial"/>
                  </a:defRPr>
                </a:pPr>
                <a:r>
                  <a:rPr sz="1100" b="0" i="0" u="none" strike="noStrike">
                    <a:solidFill>
                      <a:srgbClr val="5F6F82"/>
                    </a:solidFill>
                    <a:latin typeface="Arial"/>
                  </a:rPr>
                  <a:t>engine ms per interval (~1 min)</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F82"/>
                </a:solidFill>
                <a:latin typeface="+mn-lt"/>
              </a:defRPr>
            </a:pPr>
            <a:endParaRPr lang="en-US"/>
          </a:p>
        </c:txPr>
        <c:crossAx val="2094734554"/>
        <c:crosses val="autoZero"/>
        <c:crossBetween val="between"/>
        <c:majorUnit val="50"/>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share what we learned building and probing Deephaven applications, and propose where application code should live on the plant. Everything marked verified was observed in a test in our repo; Enterprise points come from Deephaven's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messages. One: Deephaven is a declarative dataflow engine, not an event loop. Two: a worker has one Python namespace and publishes what is named in it. Three: the biggest discovery is that the clock does not have to be Deephaven's. Four: place work by its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mock market-making book twice, once with deephaven.ui and once in React, then ran a ladder of experiments and probes. The ledger file lists each verified fact with the test behind it. Nine claims we made early on turned out to be wrong and are corrected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static picture: the parts of a worker and the boundaries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to bottom: inputs feed the update graph and outputs hang off it. By default there is one periodic graph; code can add an event-driven one. The global scope and field registry are the naming layer. Below them are the threads that actually run code, and at the bottom one port that every client uses. Dashed orange is code we run outside the engine's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Fields are the worker's interface: named, typed objects from every application, including the scope application. Clients never see Python variables, only tickets. Export tickets are the unnamed objects a session creates, such as a sorted grid. Shared tickets die with the session that published them; bind_table makes a durable name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Barrage is Arrow Flight extended for ticking data: a snapshot, then each cycle's added, removed, modified and shifted rows. The consumer replays those onto its own copy, so it ticks too. Every grid in both of our UIs is a Barrage viewport subscription.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table shared between PQs is a Barrage subscription, so it ticks on the consumer's clock. Inside one worker, a join is consistent at every step; across workers, each side is consistent with itself. We saw the same thing locally: resolving a dh+plain URI created a Barrage source node, even pointing at the same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same application over time: what runs once, what runs every cycle, and how it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 column top to bottom for one moment. The update graph starts cycling before the app scripts finish. Clients can connect only after the port opens. Rows from our thread wait for the next tick, flow through the graph, and reach clients as one delta. Shutdown is only as orderly as our own cleanup.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cycle refreshes all sources, propagates changes in dependency order, and publishes one step. Our listeners run inside the propagate step, so a slow one delays every table on that graph. Measured: ticks half a second apart were processed in pairs. Rows pushed from Python waited up to a second. One merged listener saw all three feeds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that matters most for our framework. We built an event-driven update graph from Python, put a feed and a listener on it, and pushed three rows. For a second and a half nothing happened. One requestRefresh delivered all three as a single step: A equals 600, the sum of 100, 200 and 300. Our synchronizer decides when a checkpoint happens; Deephaven makes it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table operation runs under an execution context: query scope, compiler, update graph, auth. Contexts are per thread. The script session and the thread that started the server have the real one. On our own threads, get_exec_ctx returns a static-only context, and building a ticking table fails. We measured exactly that on the host's main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engine's own performance log for experiments 2 to 4. The two Python listeners cost about 195 milliseconds per interval each, against 80 for the costliest Java operation and 3 to 36 for the rest. Table logic belongs in the query language; Python belongs at the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happened to us. In a worker that lives all day and is shared, they are worse than in a process we own, because nothing reports them and only a restart clears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runtime understood, the practical question: how should our framework and Deephaven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all three. Putting the framework inside a worker gives up the main loop and shares everything. Hosting Deephaven on a thread of our own process keeps our loop and lets our synchronizer step an event-driven graph directly, but shares one interpreter and our globals. A subprocess gives full isolation for one network 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Deephaven does not insist on the main thread. The pip server started on a background thread in 9.4 seconds while our asyncio loop kept running, at about half speed. Tables and listeners worked in-process with the context handed over from the server's thread. The costs: a shared interpreter, our module globals open to console clients, and one server per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host process started a second server as a subprocess, deployed logic with run_script, and read results at three checkpoints on its own clock while a worker pool ran unrelated computation. Counts arrive in whole engine cycles, so they step unevenly against our clock. On Windows terminate is a hard kill, so shut down by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recommended layout. Shared, table-shaped work runs in PQs that subscribe to each other. The stateful framework keeps its own runtime and pulls only the results it acts on. The test: is the app mostly table operations, or mostly other work with some table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introspection module runs inside a worker, through any client with console access. It reports the field registry, scope objects by kind, the update graphs with per-node cost, listeners against the handles that can stop them, nodes no name leads to (client exports or leaks), and Python threads. It cannot see what a listener does inside its Python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steps. The pilot is the most important: one real algorithm, run with an event-driven clock, hosted both on a thread and as a subprocess, measured on latency, isolation and operational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credibility: these are claims we made before testing, and what the tests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10698480" cy="146304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731520" y="3520440"/>
            <a:ext cx="10241280" cy="100584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
        <p:nvSpPr>
          <p:cNvPr id="4" name="Text 0"/>
          <p:cNvSpPr/>
          <p:nvPr>
            <p:ph idx="102" type="body" hasCustomPrompt="1"/>
          </p:nvPr>
        </p:nvSpPr>
        <p:spPr>
          <a:xfrm>
            <a:off x="731520" y="5440680"/>
            <a:ext cx="7315200" cy="45720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11880"/>
            <a:ext cx="10241280" cy="8229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Deephaven as an application framework · tested on Community 42.6</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slideLayout" Target="../slideLayouts/slideLayout4.xml"/><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74520"/>
            <a:ext cx="10698480" cy="1463040"/>
          </a:xfrm>
          <a:prstGeom prst="rect">
            <a:avLst/>
          </a:prstGeom>
          <a:noFill/>
          <a:ln/>
        </p:spPr>
        <p:txBody>
          <a:bodyPr wrap="square" lIns="0" tIns="0" rIns="0" bIns="0" rtlCol="0" anchor="b"/>
          <a:lstStyle/>
          <a:p>
            <a:pPr algn="l" indent="0" marL="0">
              <a:buNone/>
            </a:pPr>
            <a:r>
              <a:rPr lang="en-US" sz="4600" b="1" dirty="0">
                <a:solidFill>
                  <a:schemeClr val="bg1"/>
                </a:solidFill>
              </a:rPr>
              <a:t>Deephaven as an Application Framework</a:t>
            </a:r>
            <a:endParaRPr lang="en-US" sz="4600" dirty="0"/>
          </a:p>
        </p:txBody>
      </p:sp>
      <p:sp>
        <p:nvSpPr>
          <p:cNvPr id="3" name="Text 0"/>
          <p:cNvSpPr/>
          <p:nvPr>
            <p:ph idx="101" type="body" hasCustomPrompt="1"/>
          </p:nvPr>
        </p:nvSpPr>
        <p:spPr>
          <a:xfrm>
            <a:off x="731520" y="3520440"/>
            <a:ext cx="10241280" cy="1005840"/>
          </a:xfrm>
          <a:prstGeom prst="rect">
            <a:avLst/>
          </a:prstGeom>
          <a:noFill/>
          <a:ln/>
        </p:spPr>
        <p:txBody>
          <a:bodyPr wrap="square" lIns="0" tIns="0" rIns="0" bIns="0" rtlCol="0" anchor="t"/>
          <a:lstStyle/>
          <a:p>
            <a:pPr indent="0" marL="0">
              <a:buNone/>
            </a:pPr>
            <a:r>
              <a:rPr lang="en-US" sz="2200" dirty="0">
                <a:solidFill>
                  <a:schemeClr val="bg2"/>
                </a:solidFill>
              </a:rPr>
              <a:t>How the runtime really behaves across components, from startup to shutdown, and what that means for where our code should live</a:t>
            </a:r>
            <a:endParaRPr lang="en-US" sz="2200" dirty="0"/>
          </a:p>
        </p:txBody>
      </p:sp>
      <p:sp>
        <p:nvSpPr>
          <p:cNvPr id="4" name="Text 0"/>
          <p:cNvSpPr/>
          <p:nvPr>
            <p:ph idx="102" type="body" hasCustomPrompt="1"/>
          </p:nvPr>
        </p:nvSpPr>
        <p:spPr>
          <a:xfrm>
            <a:off x="731520" y="5440680"/>
            <a:ext cx="7315200" cy="457200"/>
          </a:xfrm>
          <a:prstGeom prst="rect">
            <a:avLst/>
          </a:prstGeom>
          <a:noFill/>
          <a:ln/>
        </p:spPr>
        <p:txBody>
          <a:bodyPr wrap="square" lIns="0" tIns="0" rIns="0" bIns="0" rtlCol="0"/>
          <a:lstStyle/>
          <a:p>
            <a:pPr indent="0" marL="0">
              <a:buNone/>
            </a:pPr>
            <a:r>
              <a:rPr lang="en-US" sz="1400" dirty="0">
                <a:solidFill>
                  <a:schemeClr val="bg2"/>
                </a:solidFill>
              </a:rPr>
              <a:t>Taylor · October 2026 · every claim tested on Deephaven Community 42.6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The short answer</a:t>
            </a:r>
            <a:endParaRPr lang="en-US" sz="3000" dirty="0"/>
          </a:p>
        </p:txBody>
      </p:sp>
      <p:sp>
        <p:nvSpPr>
          <p:cNvPr id="4" name="message 1"/>
          <p:cNvSpPr/>
          <p:nvPr/>
        </p:nvSpPr>
        <p:spPr>
          <a:xfrm>
            <a:off x="548640" y="1417320"/>
            <a:ext cx="5410048" cy="2240280"/>
          </a:xfrm>
          <a:prstGeom prst="roundRect">
            <a:avLst>
              <a:gd name="adj" fmla="val 3265"/>
            </a:avLst>
          </a:prstGeom>
          <a:solidFill>
            <a:schemeClr val="bg2"/>
          </a:solidFill>
          <a:ln w="9525">
            <a:solidFill>
              <a:schemeClr val="bg2"/>
            </a:solidFill>
            <a:prstDash val="solid"/>
          </a:ln>
        </p:spPr>
      </p:sp>
      <p:sp>
        <p:nvSpPr>
          <p:cNvPr id="5" name="message 1 circle"/>
          <p:cNvSpPr/>
          <p:nvPr/>
        </p:nvSpPr>
        <p:spPr>
          <a:xfrm>
            <a:off x="868680" y="1783080"/>
            <a:ext cx="731520" cy="731520"/>
          </a:xfrm>
          <a:prstGeom prst="ellipse">
            <a:avLst/>
          </a:prstGeom>
          <a:solidFill>
            <a:schemeClr val="accent1"/>
          </a:solidFill>
          <a:ln w="12700">
            <a:solidFill>
              <a:schemeClr val="accent1"/>
            </a:solidFill>
            <a:prstDash val="solid"/>
          </a:ln>
        </p:spPr>
      </p:sp>
      <p:pic>
        <p:nvPicPr>
          <p:cNvPr id="6" name="message 1 icon" descr="message 1 icon">    </p:cNvPr>
          <p:cNvPicPr>
            <a:picLocks noChangeAspect="1"/>
          </p:cNvPicPr>
          <p:nvPr/>
        </p:nvPicPr>
        <p:blipFill>
          <a:blip r:embed="rId1"/>
          <a:stretch>
            <a:fillRect/>
          </a:stretch>
        </p:blipFill>
        <p:spPr>
          <a:xfrm>
            <a:off x="1051560" y="1965960"/>
            <a:ext cx="365760" cy="365760"/>
          </a:xfrm>
          <a:prstGeom prst="rect">
            <a:avLst/>
          </a:prstGeom>
        </p:spPr>
      </p:pic>
      <p:sp>
        <p:nvSpPr>
          <p:cNvPr id="7" name="message 1 title"/>
          <p:cNvSpPr txBox="1"/>
          <p:nvPr/>
        </p:nvSpPr>
        <p:spPr>
          <a:xfrm>
            <a:off x="1828800" y="1783080"/>
            <a:ext cx="3855568" cy="45720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A declarative engine</a:t>
            </a:r>
            <a:endParaRPr lang="en-US" sz="2100" dirty="0"/>
          </a:p>
        </p:txBody>
      </p:sp>
      <p:sp>
        <p:nvSpPr>
          <p:cNvPr id="8" name="message 1 body"/>
          <p:cNvSpPr txBox="1"/>
          <p:nvPr/>
        </p:nvSpPr>
        <p:spPr>
          <a:xfrm>
            <a:off x="1828800" y="2331720"/>
            <a:ext cx="3855568" cy="1143000"/>
          </a:xfrm>
          <a:prstGeom prst="rect">
            <a:avLst/>
          </a:prstGeom>
          <a:noFill/>
          <a:ln/>
        </p:spPr>
        <p:txBody>
          <a:bodyPr wrap="square" lIns="0" tIns="0" rIns="0" bIns="0" rtlCol="0" anchor="t"/>
          <a:lstStyle/>
          <a:p>
            <a:pPr indent="0" marL="0">
              <a:buNone/>
            </a:pPr>
            <a:r>
              <a:rPr lang="en-US" sz="1600" dirty="0">
                <a:solidFill>
                  <a:schemeClr val="tx1"/>
                </a:solidFill>
              </a:rPr>
              <a:t>Scripts declare a graph of tables once; the update graph keeps it current, one consistent ~1 s cycle at a time.</a:t>
            </a:r>
            <a:endParaRPr lang="en-US" sz="1600" dirty="0"/>
          </a:p>
        </p:txBody>
      </p:sp>
      <p:sp>
        <p:nvSpPr>
          <p:cNvPr id="9" name="message 2"/>
          <p:cNvSpPr/>
          <p:nvPr/>
        </p:nvSpPr>
        <p:spPr>
          <a:xfrm>
            <a:off x="6233008" y="1417320"/>
            <a:ext cx="5410048" cy="2240280"/>
          </a:xfrm>
          <a:prstGeom prst="roundRect">
            <a:avLst>
              <a:gd name="adj" fmla="val 3265"/>
            </a:avLst>
          </a:prstGeom>
          <a:solidFill>
            <a:schemeClr val="bg2"/>
          </a:solidFill>
          <a:ln w="9525">
            <a:solidFill>
              <a:schemeClr val="bg2"/>
            </a:solidFill>
            <a:prstDash val="solid"/>
          </a:ln>
        </p:spPr>
      </p:sp>
      <p:sp>
        <p:nvSpPr>
          <p:cNvPr id="10" name="message 2 circle"/>
          <p:cNvSpPr/>
          <p:nvPr/>
        </p:nvSpPr>
        <p:spPr>
          <a:xfrm>
            <a:off x="6553048" y="1783080"/>
            <a:ext cx="731520" cy="731520"/>
          </a:xfrm>
          <a:prstGeom prst="ellipse">
            <a:avLst/>
          </a:prstGeom>
          <a:solidFill>
            <a:schemeClr val="accent3"/>
          </a:solidFill>
          <a:ln w="12700">
            <a:solidFill>
              <a:schemeClr val="accent3"/>
            </a:solidFill>
            <a:prstDash val="solid"/>
          </a:ln>
        </p:spPr>
      </p:sp>
      <p:pic>
        <p:nvPicPr>
          <p:cNvPr id="11" name="message 2 icon" descr="message 2 icon">    </p:cNvPr>
          <p:cNvPicPr>
            <a:picLocks noChangeAspect="1"/>
          </p:cNvPicPr>
          <p:nvPr/>
        </p:nvPicPr>
        <p:blipFill>
          <a:blip r:embed="rId2"/>
          <a:stretch>
            <a:fillRect/>
          </a:stretch>
        </p:blipFill>
        <p:spPr>
          <a:xfrm>
            <a:off x="6735928" y="1965960"/>
            <a:ext cx="365760" cy="365760"/>
          </a:xfrm>
          <a:prstGeom prst="rect">
            <a:avLst/>
          </a:prstGeom>
        </p:spPr>
      </p:pic>
      <p:sp>
        <p:nvSpPr>
          <p:cNvPr id="12" name="message 2 title"/>
          <p:cNvSpPr txBox="1"/>
          <p:nvPr/>
        </p:nvSpPr>
        <p:spPr>
          <a:xfrm>
            <a:off x="7513168" y="1783080"/>
            <a:ext cx="3855568" cy="45720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One namespace, published</a:t>
            </a:r>
            <a:endParaRPr lang="en-US" sz="2100" dirty="0"/>
          </a:p>
        </p:txBody>
      </p:sp>
      <p:sp>
        <p:nvSpPr>
          <p:cNvPr id="13" name="message 2 body"/>
          <p:cNvSpPr txBox="1"/>
          <p:nvPr/>
        </p:nvSpPr>
        <p:spPr>
          <a:xfrm>
            <a:off x="7513168" y="2331720"/>
            <a:ext cx="3855568" cy="1143000"/>
          </a:xfrm>
          <a:prstGeom prst="rect">
            <a:avLst/>
          </a:prstGeom>
          <a:noFill/>
          <a:ln/>
        </p:spPr>
        <p:txBody>
          <a:bodyPr wrap="square" lIns="0" tIns="0" rIns="0" bIns="0" rtlCol="0" anchor="t"/>
          <a:lstStyle/>
          <a:p>
            <a:pPr indent="0" marL="0">
              <a:buNone/>
            </a:pPr>
            <a:r>
              <a:rPr lang="en-US" sz="1600" dirty="0">
                <a:solidFill>
                  <a:schemeClr val="tx1"/>
                </a:solidFill>
              </a:rPr>
              <a:t>Console commands, run_script and app-mode scripts share one global scope; every exportable name is a field clients can open.</a:t>
            </a:r>
            <a:endParaRPr lang="en-US" sz="1600" dirty="0"/>
          </a:p>
        </p:txBody>
      </p:sp>
      <p:sp>
        <p:nvSpPr>
          <p:cNvPr id="14" name="message 3"/>
          <p:cNvSpPr/>
          <p:nvPr/>
        </p:nvSpPr>
        <p:spPr>
          <a:xfrm>
            <a:off x="548640" y="3840480"/>
            <a:ext cx="5410048" cy="2240280"/>
          </a:xfrm>
          <a:prstGeom prst="roundRect">
            <a:avLst>
              <a:gd name="adj" fmla="val 3265"/>
            </a:avLst>
          </a:prstGeom>
          <a:solidFill>
            <a:schemeClr val="bg2"/>
          </a:solidFill>
          <a:ln w="9525">
            <a:solidFill>
              <a:schemeClr val="bg2"/>
            </a:solidFill>
            <a:prstDash val="solid"/>
          </a:ln>
        </p:spPr>
      </p:sp>
      <p:sp>
        <p:nvSpPr>
          <p:cNvPr id="15" name="message 3 circle"/>
          <p:cNvSpPr/>
          <p:nvPr/>
        </p:nvSpPr>
        <p:spPr>
          <a:xfrm>
            <a:off x="868680" y="4206240"/>
            <a:ext cx="731520" cy="731520"/>
          </a:xfrm>
          <a:prstGeom prst="ellipse">
            <a:avLst/>
          </a:prstGeom>
          <a:solidFill>
            <a:schemeClr val="accent2"/>
          </a:solidFill>
          <a:ln w="12700">
            <a:solidFill>
              <a:schemeClr val="accent2"/>
            </a:solidFill>
            <a:prstDash val="solid"/>
          </a:ln>
        </p:spPr>
      </p:sp>
      <p:pic>
        <p:nvPicPr>
          <p:cNvPr id="16" name="message 3 icon" descr="message 3 icon">    </p:cNvPr>
          <p:cNvPicPr>
            <a:picLocks noChangeAspect="1"/>
          </p:cNvPicPr>
          <p:nvPr/>
        </p:nvPicPr>
        <p:blipFill>
          <a:blip r:embed="rId3"/>
          <a:stretch>
            <a:fillRect/>
          </a:stretch>
        </p:blipFill>
        <p:spPr>
          <a:xfrm>
            <a:off x="1051560" y="4389120"/>
            <a:ext cx="365760" cy="365760"/>
          </a:xfrm>
          <a:prstGeom prst="rect">
            <a:avLst/>
          </a:prstGeom>
        </p:spPr>
      </p:pic>
      <p:sp>
        <p:nvSpPr>
          <p:cNvPr id="17" name="message 3 title"/>
          <p:cNvSpPr txBox="1"/>
          <p:nvPr/>
        </p:nvSpPr>
        <p:spPr>
          <a:xfrm>
            <a:off x="1828800" y="4206240"/>
            <a:ext cx="3855568" cy="45720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The clock can be ours</a:t>
            </a:r>
            <a:endParaRPr lang="en-US" sz="2100" dirty="0"/>
          </a:p>
        </p:txBody>
      </p:sp>
      <p:sp>
        <p:nvSpPr>
          <p:cNvPr id="18" name="message 3 body"/>
          <p:cNvSpPr txBox="1"/>
          <p:nvPr/>
        </p:nvSpPr>
        <p:spPr>
          <a:xfrm>
            <a:off x="1828800" y="4754880"/>
            <a:ext cx="3855568" cy="1143000"/>
          </a:xfrm>
          <a:prstGeom prst="rect">
            <a:avLst/>
          </a:prstGeom>
          <a:noFill/>
          <a:ln/>
        </p:spPr>
        <p:txBody>
          <a:bodyPr wrap="square" lIns="0" tIns="0" rIns="0" bIns="0" rtlCol="0" anchor="t"/>
          <a:lstStyle/>
          <a:p>
            <a:pPr indent="0" marL="0">
              <a:buNone/>
            </a:pPr>
            <a:r>
              <a:rPr lang="en-US" sz="1600" dirty="0">
                <a:solidFill>
                  <a:schemeClr val="tx1"/>
                </a:solidFill>
              </a:rPr>
              <a:t>An event-driven update graph advances only when our code calls requestRefresh(): one call, one checkpoint.</a:t>
            </a:r>
            <a:endParaRPr lang="en-US" sz="1600" dirty="0"/>
          </a:p>
        </p:txBody>
      </p:sp>
      <p:sp>
        <p:nvSpPr>
          <p:cNvPr id="19" name="message 4"/>
          <p:cNvSpPr/>
          <p:nvPr/>
        </p:nvSpPr>
        <p:spPr>
          <a:xfrm>
            <a:off x="6233008" y="3840480"/>
            <a:ext cx="5410048" cy="2240280"/>
          </a:xfrm>
          <a:prstGeom prst="roundRect">
            <a:avLst>
              <a:gd name="adj" fmla="val 3265"/>
            </a:avLst>
          </a:prstGeom>
          <a:solidFill>
            <a:schemeClr val="bg2"/>
          </a:solidFill>
          <a:ln w="9525">
            <a:solidFill>
              <a:schemeClr val="bg2"/>
            </a:solidFill>
            <a:prstDash val="solid"/>
          </a:ln>
        </p:spPr>
      </p:sp>
      <p:sp>
        <p:nvSpPr>
          <p:cNvPr id="20" name="message 4 circle"/>
          <p:cNvSpPr/>
          <p:nvPr/>
        </p:nvSpPr>
        <p:spPr>
          <a:xfrm>
            <a:off x="6553048" y="4206240"/>
            <a:ext cx="731520" cy="731520"/>
          </a:xfrm>
          <a:prstGeom prst="ellipse">
            <a:avLst/>
          </a:prstGeom>
          <a:solidFill>
            <a:schemeClr val="tx2"/>
          </a:solidFill>
          <a:ln w="12700">
            <a:solidFill>
              <a:schemeClr val="tx2"/>
            </a:solidFill>
            <a:prstDash val="solid"/>
          </a:ln>
        </p:spPr>
      </p:sp>
      <p:pic>
        <p:nvPicPr>
          <p:cNvPr id="21" name="message 4 icon" descr="message 4 icon">    </p:cNvPr>
          <p:cNvPicPr>
            <a:picLocks noChangeAspect="1"/>
          </p:cNvPicPr>
          <p:nvPr/>
        </p:nvPicPr>
        <p:blipFill>
          <a:blip r:embed="rId4"/>
          <a:stretch>
            <a:fillRect/>
          </a:stretch>
        </p:blipFill>
        <p:spPr>
          <a:xfrm>
            <a:off x="6735928" y="4389120"/>
            <a:ext cx="365760" cy="365760"/>
          </a:xfrm>
          <a:prstGeom prst="rect">
            <a:avLst/>
          </a:prstGeom>
        </p:spPr>
      </p:pic>
      <p:sp>
        <p:nvSpPr>
          <p:cNvPr id="22" name="message 4 title"/>
          <p:cNvSpPr txBox="1"/>
          <p:nvPr/>
        </p:nvSpPr>
        <p:spPr>
          <a:xfrm>
            <a:off x="7513168" y="4206240"/>
            <a:ext cx="3855568" cy="45720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Place work by its shape</a:t>
            </a:r>
            <a:endParaRPr lang="en-US" sz="2100" dirty="0"/>
          </a:p>
        </p:txBody>
      </p:sp>
      <p:sp>
        <p:nvSpPr>
          <p:cNvPr id="23" name="message 4 body"/>
          <p:cNvSpPr txBox="1"/>
          <p:nvPr/>
        </p:nvSpPr>
        <p:spPr>
          <a:xfrm>
            <a:off x="7513168" y="4754880"/>
            <a:ext cx="3855568" cy="1143000"/>
          </a:xfrm>
          <a:prstGeom prst="rect">
            <a:avLst/>
          </a:prstGeom>
          <a:noFill/>
          <a:ln/>
        </p:spPr>
        <p:txBody>
          <a:bodyPr wrap="square" lIns="0" tIns="0" rIns="0" bIns="0" rtlCol="0" anchor="t"/>
          <a:lstStyle/>
          <a:p>
            <a:pPr indent="0" marL="0">
              <a:buNone/>
            </a:pPr>
            <a:r>
              <a:rPr lang="en-US" sz="1600" dirty="0">
                <a:solidFill>
                  <a:schemeClr val="tx1"/>
                </a:solidFill>
              </a:rPr>
              <a:t>Table work in PQs; stateful applications beside them as a subprocess, a thread-hosted service or a client.</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How we know: every claim traces to a test</a:t>
            </a:r>
            <a:endParaRPr lang="en-US" sz="3000" dirty="0"/>
          </a:p>
        </p:txBody>
      </p:sp>
      <p:sp>
        <p:nvSpPr>
          <p:cNvPr id="4" name="stat 1 value"/>
          <p:cNvSpPr txBox="1"/>
          <p:nvPr/>
        </p:nvSpPr>
        <p:spPr>
          <a:xfrm>
            <a:off x="548640" y="1371600"/>
            <a:ext cx="2407844" cy="1097280"/>
          </a:xfrm>
          <a:prstGeom prst="rect">
            <a:avLst/>
          </a:prstGeom>
          <a:noFill/>
          <a:ln/>
        </p:spPr>
        <p:txBody>
          <a:bodyPr wrap="square" lIns="0" tIns="0" rIns="0" bIns="0" rtlCol="0" anchor="b"/>
          <a:lstStyle/>
          <a:p>
            <a:pPr indent="0" marL="0">
              <a:buNone/>
            </a:pPr>
            <a:r>
              <a:rPr lang="en-US" sz="6600" b="1" dirty="0">
                <a:solidFill>
                  <a:schemeClr val="accent1"/>
                </a:solidFill>
                <a:latin typeface="Cambria" pitchFamily="34" charset="0"/>
                <a:ea typeface="Cambria" pitchFamily="34" charset="-122"/>
                <a:cs typeface="Cambria" pitchFamily="34" charset="-120"/>
              </a:rPr>
              <a:t>39</a:t>
            </a:r>
            <a:endParaRPr lang="en-US" sz="6600" dirty="0"/>
          </a:p>
        </p:txBody>
      </p:sp>
      <p:sp>
        <p:nvSpPr>
          <p:cNvPr id="5" name="stat 1 label"/>
          <p:cNvSpPr txBox="1"/>
          <p:nvPr/>
        </p:nvSpPr>
        <p:spPr>
          <a:xfrm>
            <a:off x="548640" y="2514600"/>
            <a:ext cx="2407844" cy="868680"/>
          </a:xfrm>
          <a:prstGeom prst="rect">
            <a:avLst/>
          </a:prstGeom>
          <a:noFill/>
          <a:ln/>
        </p:spPr>
        <p:txBody>
          <a:bodyPr wrap="square" lIns="0" tIns="0" rIns="0" bIns="0" rtlCol="0" anchor="t"/>
          <a:lstStyle/>
          <a:p>
            <a:pPr indent="0" marL="0">
              <a:buNone/>
            </a:pPr>
            <a:r>
              <a:rPr lang="en-US" sz="1600" dirty="0">
                <a:solidFill>
                  <a:schemeClr val="tx1"/>
                </a:solidFill>
              </a:rPr>
              <a:t>verified facts in the ledger, each with its test or source</a:t>
            </a:r>
            <a:endParaRPr lang="en-US" sz="1600" dirty="0"/>
          </a:p>
        </p:txBody>
      </p:sp>
      <p:sp>
        <p:nvSpPr>
          <p:cNvPr id="6" name="stat 2 value"/>
          <p:cNvSpPr txBox="1"/>
          <p:nvPr/>
        </p:nvSpPr>
        <p:spPr>
          <a:xfrm>
            <a:off x="3322244" y="1371600"/>
            <a:ext cx="2407844" cy="1097280"/>
          </a:xfrm>
          <a:prstGeom prst="rect">
            <a:avLst/>
          </a:prstGeom>
          <a:noFill/>
          <a:ln/>
        </p:spPr>
        <p:txBody>
          <a:bodyPr wrap="square" lIns="0" tIns="0" rIns="0" bIns="0" rtlCol="0" anchor="b"/>
          <a:lstStyle/>
          <a:p>
            <a:pPr indent="0" marL="0">
              <a:buNone/>
            </a:pPr>
            <a:r>
              <a:rPr lang="en-US" sz="6600" b="1" dirty="0">
                <a:solidFill>
                  <a:schemeClr val="accent2"/>
                </a:solidFill>
                <a:latin typeface="Cambria" pitchFamily="34" charset="0"/>
                <a:ea typeface="Cambria" pitchFamily="34" charset="-122"/>
                <a:cs typeface="Cambria" pitchFamily="34" charset="-120"/>
              </a:rPr>
              <a:t>9</a:t>
            </a:r>
            <a:endParaRPr lang="en-US" sz="6600" dirty="0"/>
          </a:p>
        </p:txBody>
      </p:sp>
      <p:sp>
        <p:nvSpPr>
          <p:cNvPr id="7" name="stat 2 label"/>
          <p:cNvSpPr txBox="1"/>
          <p:nvPr/>
        </p:nvSpPr>
        <p:spPr>
          <a:xfrm>
            <a:off x="3322244" y="2514600"/>
            <a:ext cx="2407844" cy="868680"/>
          </a:xfrm>
          <a:prstGeom prst="rect">
            <a:avLst/>
          </a:prstGeom>
          <a:noFill/>
          <a:ln/>
        </p:spPr>
        <p:txBody>
          <a:bodyPr wrap="square" lIns="0" tIns="0" rIns="0" bIns="0" rtlCol="0" anchor="t"/>
          <a:lstStyle/>
          <a:p>
            <a:pPr indent="0" marL="0">
              <a:buNone/>
            </a:pPr>
            <a:r>
              <a:rPr lang="en-US" sz="1600" dirty="0">
                <a:solidFill>
                  <a:schemeClr val="tx1"/>
                </a:solidFill>
              </a:rPr>
              <a:t>earlier claims corrected by later tests</a:t>
            </a:r>
            <a:endParaRPr lang="en-US" sz="1600" dirty="0"/>
          </a:p>
        </p:txBody>
      </p:sp>
      <p:sp>
        <p:nvSpPr>
          <p:cNvPr id="8" name="stat 3 value"/>
          <p:cNvSpPr txBox="1"/>
          <p:nvPr/>
        </p:nvSpPr>
        <p:spPr>
          <a:xfrm>
            <a:off x="6095848" y="1371600"/>
            <a:ext cx="2407844" cy="1097280"/>
          </a:xfrm>
          <a:prstGeom prst="rect">
            <a:avLst/>
          </a:prstGeom>
          <a:noFill/>
          <a:ln/>
        </p:spPr>
        <p:txBody>
          <a:bodyPr wrap="square" lIns="0" tIns="0" rIns="0" bIns="0" rtlCol="0" anchor="b"/>
          <a:lstStyle/>
          <a:p>
            <a:pPr indent="0" marL="0">
              <a:buNone/>
            </a:pPr>
            <a:r>
              <a:rPr lang="en-US" sz="6600" b="1" dirty="0">
                <a:solidFill>
                  <a:schemeClr val="accent3"/>
                </a:solidFill>
                <a:latin typeface="Cambria" pitchFamily="34" charset="0"/>
                <a:ea typeface="Cambria" pitchFamily="34" charset="-122"/>
                <a:cs typeface="Cambria" pitchFamily="34" charset="-120"/>
              </a:rPr>
              <a:t>2</a:t>
            </a:r>
            <a:endParaRPr lang="en-US" sz="6600" dirty="0"/>
          </a:p>
        </p:txBody>
      </p:sp>
      <p:sp>
        <p:nvSpPr>
          <p:cNvPr id="9" name="stat 3 label"/>
          <p:cNvSpPr txBox="1"/>
          <p:nvPr/>
        </p:nvSpPr>
        <p:spPr>
          <a:xfrm>
            <a:off x="6095848" y="2514600"/>
            <a:ext cx="2407844" cy="868680"/>
          </a:xfrm>
          <a:prstGeom prst="rect">
            <a:avLst/>
          </a:prstGeom>
          <a:noFill/>
          <a:ln/>
        </p:spPr>
        <p:txBody>
          <a:bodyPr wrap="square" lIns="0" tIns="0" rIns="0" bIns="0" rtlCol="0" anchor="t"/>
          <a:lstStyle/>
          <a:p>
            <a:pPr indent="0" marL="0">
              <a:buNone/>
            </a:pPr>
            <a:r>
              <a:rPr lang="en-US" sz="1600" dirty="0">
                <a:solidFill>
                  <a:schemeClr val="tx1"/>
                </a:solidFill>
              </a:rPr>
              <a:t>UI routes built on one server: deephaven.ui and React</a:t>
            </a:r>
            <a:endParaRPr lang="en-US" sz="1600" dirty="0"/>
          </a:p>
        </p:txBody>
      </p:sp>
      <p:sp>
        <p:nvSpPr>
          <p:cNvPr id="10" name="stat 4 value"/>
          <p:cNvSpPr txBox="1"/>
          <p:nvPr/>
        </p:nvSpPr>
        <p:spPr>
          <a:xfrm>
            <a:off x="8869451" y="1371600"/>
            <a:ext cx="2407844" cy="1097280"/>
          </a:xfrm>
          <a:prstGeom prst="rect">
            <a:avLst/>
          </a:prstGeom>
          <a:noFill/>
          <a:ln/>
        </p:spPr>
        <p:txBody>
          <a:bodyPr wrap="square" lIns="0" tIns="0" rIns="0" bIns="0" rtlCol="0" anchor="b"/>
          <a:lstStyle/>
          <a:p>
            <a:pPr indent="0" marL="0">
              <a:buNone/>
            </a:pPr>
            <a:r>
              <a:rPr lang="en-US" sz="6600" b="1" dirty="0">
                <a:solidFill>
                  <a:schemeClr val="tx2"/>
                </a:solidFill>
                <a:latin typeface="Cambria" pitchFamily="34" charset="0"/>
                <a:ea typeface="Cambria" pitchFamily="34" charset="-122"/>
                <a:cs typeface="Cambria" pitchFamily="34" charset="-120"/>
              </a:rPr>
              <a:t>3</a:t>
            </a:r>
            <a:endParaRPr lang="en-US" sz="6600" dirty="0"/>
          </a:p>
        </p:txBody>
      </p:sp>
      <p:sp>
        <p:nvSpPr>
          <p:cNvPr id="11" name="stat 4 label"/>
          <p:cNvSpPr txBox="1"/>
          <p:nvPr/>
        </p:nvSpPr>
        <p:spPr>
          <a:xfrm>
            <a:off x="8869451" y="2514600"/>
            <a:ext cx="2407844" cy="868680"/>
          </a:xfrm>
          <a:prstGeom prst="rect">
            <a:avLst/>
          </a:prstGeom>
          <a:noFill/>
          <a:ln/>
        </p:spPr>
        <p:txBody>
          <a:bodyPr wrap="square" lIns="0" tIns="0" rIns="0" bIns="0" rtlCol="0" anchor="t"/>
          <a:lstStyle/>
          <a:p>
            <a:pPr indent="0" marL="0">
              <a:buNone/>
            </a:pPr>
            <a:r>
              <a:rPr lang="en-US" sz="1600" dirty="0">
                <a:solidFill>
                  <a:schemeClr val="tx1"/>
                </a:solidFill>
              </a:rPr>
              <a:t>ways to host Deephaven next to our framework, all run</a:t>
            </a:r>
            <a:endParaRPr lang="en-US" sz="1600" dirty="0"/>
          </a:p>
        </p:txBody>
      </p:sp>
      <p:sp>
        <p:nvSpPr>
          <p:cNvPr id="12" name="method box"/>
          <p:cNvSpPr/>
          <p:nvPr/>
        </p:nvSpPr>
        <p:spPr>
          <a:xfrm>
            <a:off x="548640" y="3931920"/>
            <a:ext cx="11094415" cy="1828800"/>
          </a:xfrm>
          <a:prstGeom prst="roundRect">
            <a:avLst>
              <a:gd name="adj" fmla="val 4000"/>
            </a:avLst>
          </a:prstGeom>
          <a:solidFill>
            <a:schemeClr val="bg2"/>
          </a:solidFill>
          <a:ln w="9525">
            <a:solidFill>
              <a:schemeClr val="bg2"/>
            </a:solidFill>
            <a:prstDash val="solid"/>
          </a:ln>
        </p:spPr>
      </p:sp>
      <p:sp>
        <p:nvSpPr>
          <p:cNvPr id="13" name="method text"/>
          <p:cNvSpPr txBox="1"/>
          <p:nvPr/>
        </p:nvSpPr>
        <p:spPr>
          <a:xfrm>
            <a:off x="868680" y="4114800"/>
            <a:ext cx="10454335" cy="1508760"/>
          </a:xfrm>
          <a:prstGeom prst="rect">
            <a:avLst/>
          </a:prstGeom>
          <a:noFill/>
          <a:ln/>
        </p:spPr>
        <p:txBody>
          <a:bodyPr wrap="square" lIns="0" tIns="0" rIns="0" bIns="0" rtlCol="0" anchor="t"/>
          <a:lstStyle/>
          <a:p>
            <a:pPr indent="0" marL="0">
              <a:spcAft>
                <a:spcPts val="400"/>
              </a:spcAft>
              <a:buNone/>
            </a:pPr>
            <a:r>
              <a:rPr lang="en-US" sz="1700" b="1" dirty="0">
                <a:solidFill>
                  <a:schemeClr val="tx2"/>
                </a:solidFill>
              </a:rPr>
              <a:t>The evidence</a:t>
            </a:r>
            <a:endParaRPr lang="en-US" sz="1500" dirty="0"/>
          </a:p>
          <a:p>
            <a:pPr indent="0" marL="0">
              <a:spcAft>
                <a:spcPts val="400"/>
              </a:spcAft>
              <a:buNone/>
            </a:pPr>
            <a:r>
              <a:rPr lang="en-US" sz="1500" dirty="0">
                <a:solidFill>
                  <a:schemeClr val="tx1"/>
                </a:solidFill>
              </a:rPr>
              <a:t>A ladder of experiments (lifecycle, declarative DAG, listener hooks, multi-feed checkpoints), probes of scopes, fields and tickets, runtime probes (executors, an event-driven clock, Deephaven on a thread, Deephaven as a subprocess), and an introspection module run against a live worker.</a:t>
            </a:r>
            <a:endParaRPr lang="en-US" sz="1500" dirty="0"/>
          </a:p>
          <a:p>
            <a:pPr indent="0" marL="0">
              <a:spcAft>
                <a:spcPts val="400"/>
              </a:spcAft>
              <a:buNone/>
            </a:pPr>
            <a:r>
              <a:rPr lang="en-US" sz="1500" i="1" dirty="0">
                <a:solidFill>
                  <a:schemeClr val="accent5"/>
                </a:solidFill>
              </a:rPr>
              <a:t>Community 42.6 in Docker and as the pip server natively on Windows. Enterprise behaviour comes from Deephaven's documentation and is marked as such.</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097280"/>
          </a:xfrm>
          <a:prstGeom prst="rect">
            <a:avLst/>
          </a:prstGeom>
          <a:noFill/>
          <a:ln/>
        </p:spPr>
        <p:txBody>
          <a:bodyPr wrap="square" lIns="0" tIns="0" rIns="0" bIns="0" rtlCol="0" anchor="b"/>
          <a:lstStyle/>
          <a:p>
            <a:pPr algn="l" indent="0" marL="0">
              <a:buNone/>
            </a:pPr>
            <a:r>
              <a:rPr lang="en-US" sz="4000" b="1" dirty="0">
                <a:solidFill>
                  <a:schemeClr val="bg1"/>
                </a:solidFill>
              </a:rPr>
              <a:t>1   The runtime in space</a:t>
            </a:r>
            <a:endParaRPr lang="en-US" sz="4000" dirty="0"/>
          </a:p>
        </p:txBody>
      </p:sp>
      <p:sp>
        <p:nvSpPr>
          <p:cNvPr id="3" name="Text 0"/>
          <p:cNvSpPr/>
          <p:nvPr>
            <p:ph idx="101" type="body" hasCustomPrompt="1"/>
          </p:nvPr>
        </p:nvSpPr>
        <p:spPr>
          <a:xfrm>
            <a:off x="731520" y="3611880"/>
            <a:ext cx="10241280" cy="822960"/>
          </a:xfrm>
          <a:prstGeom prst="rect">
            <a:avLst/>
          </a:prstGeom>
          <a:noFill/>
          <a:ln/>
        </p:spPr>
        <p:txBody>
          <a:bodyPr wrap="square" lIns="0" tIns="0" rIns="0" bIns="0" rtlCol="0" anchor="t"/>
          <a:lstStyle/>
          <a:p>
            <a:pPr indent="0" marL="0">
              <a:buNone/>
            </a:pPr>
            <a:r>
              <a:rPr lang="en-US" sz="2000" dirty="0">
                <a:solidFill>
                  <a:schemeClr val="bg2"/>
                </a:solidFill>
              </a:rPr>
              <a:t>What lives inside one worker, how it is named, and how clients and other workers reach it</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Everything happens inside one worker process</a:t>
            </a:r>
            <a:endParaRPr lang="en-US" sz="3000" dirty="0"/>
          </a:p>
        </p:txBody>
      </p:sp>
      <p:pic>
        <p:nvPicPr>
          <p:cNvPr id="4" name="Diagram: one worker with inputs, update graph, outputs, scopes, threads and port" descr="Diagram: one worker with inputs, update graph, outputs, scopes, threads and port">    </p:cNvPr>
          <p:cNvPicPr>
            <a:picLocks noChangeAspect="1"/>
          </p:cNvPicPr>
          <p:nvPr/>
        </p:nvPicPr>
        <p:blipFill>
          <a:blip r:embed="rId1"/>
          <a:stretch>
            <a:fillRect/>
          </a:stretch>
        </p:blipFill>
        <p:spPr>
          <a:xfrm>
            <a:off x="548640" y="1280160"/>
            <a:ext cx="5517131" cy="4983480"/>
          </a:xfrm>
          <a:prstGeom prst="rect">
            <a:avLst/>
          </a:prstGeom>
        </p:spPr>
      </p:pic>
      <p:sp>
        <p:nvSpPr>
          <p:cNvPr id="5" name="point 1 circle"/>
          <p:cNvSpPr/>
          <p:nvPr/>
        </p:nvSpPr>
        <p:spPr>
          <a:xfrm>
            <a:off x="6995160" y="1463040"/>
            <a:ext cx="640080" cy="640080"/>
          </a:xfrm>
          <a:prstGeom prst="ellipse">
            <a:avLst/>
          </a:prstGeom>
          <a:solidFill>
            <a:schemeClr val="accent3"/>
          </a:solidFill>
          <a:ln w="12700">
            <a:solidFill>
              <a:schemeClr val="accent3"/>
            </a:solidFill>
            <a:prstDash val="solid"/>
          </a:ln>
        </p:spPr>
      </p:sp>
      <p:pic>
        <p:nvPicPr>
          <p:cNvPr id="6" name="point 1 icon" descr="point 1 icon">    </p:cNvPr>
          <p:cNvPicPr>
            <a:picLocks noChangeAspect="1"/>
          </p:cNvPicPr>
          <p:nvPr/>
        </p:nvPicPr>
        <p:blipFill>
          <a:blip r:embed="rId2"/>
          <a:stretch>
            <a:fillRect/>
          </a:stretch>
        </p:blipFill>
        <p:spPr>
          <a:xfrm>
            <a:off x="7155180" y="1623060"/>
            <a:ext cx="320040" cy="320040"/>
          </a:xfrm>
          <a:prstGeom prst="rect">
            <a:avLst/>
          </a:prstGeom>
        </p:spPr>
      </p:pic>
      <p:sp>
        <p:nvSpPr>
          <p:cNvPr id="7" name="point 1 title"/>
          <p:cNvSpPr txBox="1"/>
          <p:nvPr/>
        </p:nvSpPr>
        <p:spPr>
          <a:xfrm>
            <a:off x="7863840" y="1444752"/>
            <a:ext cx="3749040" cy="411480"/>
          </a:xfrm>
          <a:prstGeom prst="rect">
            <a:avLst/>
          </a:prstGeom>
          <a:noFill/>
          <a:ln/>
        </p:spPr>
        <p:txBody>
          <a:bodyPr wrap="square" lIns="0" tIns="0" rIns="0" bIns="0" rtlCol="0" anchor="t"/>
          <a:lstStyle/>
          <a:p>
            <a:pPr indent="0" marL="0">
              <a:buNone/>
            </a:pPr>
            <a:r>
              <a:rPr lang="en-US" sz="1900" b="1" dirty="0">
                <a:solidFill>
                  <a:schemeClr val="tx2"/>
                </a:solidFill>
              </a:rPr>
              <a:t>Inputs feed one graph</a:t>
            </a:r>
            <a:endParaRPr lang="en-US" sz="1900" dirty="0"/>
          </a:p>
        </p:txBody>
      </p:sp>
      <p:sp>
        <p:nvSpPr>
          <p:cNvPr id="8" name="point 1 body"/>
          <p:cNvSpPr txBox="1"/>
          <p:nvPr/>
        </p:nvSpPr>
        <p:spPr>
          <a:xfrm>
            <a:off x="7863840" y="1874520"/>
            <a:ext cx="3749040" cy="1005840"/>
          </a:xfrm>
          <a:prstGeom prst="rect">
            <a:avLst/>
          </a:prstGeom>
          <a:noFill/>
          <a:ln/>
        </p:spPr>
        <p:txBody>
          <a:bodyPr wrap="square" lIns="0" tIns="0" rIns="0" bIns="0" rtlCol="0" anchor="t"/>
          <a:lstStyle/>
          <a:p>
            <a:pPr indent="0" marL="0">
              <a:buNone/>
            </a:pPr>
            <a:r>
              <a:rPr lang="en-US" sz="1500" dirty="0">
                <a:solidFill>
                  <a:schemeClr val="tx1"/>
                </a:solidFill>
              </a:rPr>
              <a:t>Time tables, Kafka, files, input tables, Python feeds and Barrage subscriptions all become source nodes.</a:t>
            </a:r>
            <a:endParaRPr lang="en-US" sz="1500" dirty="0"/>
          </a:p>
        </p:txBody>
      </p:sp>
      <p:sp>
        <p:nvSpPr>
          <p:cNvPr id="9" name="point 2 circle"/>
          <p:cNvSpPr/>
          <p:nvPr/>
        </p:nvSpPr>
        <p:spPr>
          <a:xfrm>
            <a:off x="6995160" y="3063240"/>
            <a:ext cx="640080" cy="640080"/>
          </a:xfrm>
          <a:prstGeom prst="ellipse">
            <a:avLst/>
          </a:prstGeom>
          <a:solidFill>
            <a:schemeClr val="accent2"/>
          </a:solidFill>
          <a:ln w="12700">
            <a:solidFill>
              <a:schemeClr val="accent2"/>
            </a:solidFill>
            <a:prstDash val="solid"/>
          </a:ln>
        </p:spPr>
      </p:sp>
      <p:pic>
        <p:nvPicPr>
          <p:cNvPr id="10" name="point 2 icon" descr="point 2 icon">    </p:cNvPr>
          <p:cNvPicPr>
            <a:picLocks noChangeAspect="1"/>
          </p:cNvPicPr>
          <p:nvPr/>
        </p:nvPicPr>
        <p:blipFill>
          <a:blip r:embed="rId3"/>
          <a:stretch>
            <a:fillRect/>
          </a:stretch>
        </p:blipFill>
        <p:spPr>
          <a:xfrm>
            <a:off x="7155180" y="3223260"/>
            <a:ext cx="320040" cy="320040"/>
          </a:xfrm>
          <a:prstGeom prst="rect">
            <a:avLst/>
          </a:prstGeom>
        </p:spPr>
      </p:pic>
      <p:sp>
        <p:nvSpPr>
          <p:cNvPr id="11" name="point 2 title"/>
          <p:cNvSpPr txBox="1"/>
          <p:nvPr/>
        </p:nvSpPr>
        <p:spPr>
          <a:xfrm>
            <a:off x="7863840" y="3044952"/>
            <a:ext cx="3749040" cy="411480"/>
          </a:xfrm>
          <a:prstGeom prst="rect">
            <a:avLst/>
          </a:prstGeom>
          <a:noFill/>
          <a:ln/>
        </p:spPr>
        <p:txBody>
          <a:bodyPr wrap="square" lIns="0" tIns="0" rIns="0" bIns="0" rtlCol="0" anchor="t"/>
          <a:lstStyle/>
          <a:p>
            <a:pPr indent="0" marL="0">
              <a:buNone/>
            </a:pPr>
            <a:r>
              <a:rPr lang="en-US" sz="1900" b="1" dirty="0">
                <a:solidFill>
                  <a:schemeClr val="tx2"/>
                </a:solidFill>
              </a:rPr>
              <a:t>Our threads are guests</a:t>
            </a:r>
            <a:endParaRPr lang="en-US" sz="1900" dirty="0"/>
          </a:p>
        </p:txBody>
      </p:sp>
      <p:sp>
        <p:nvSpPr>
          <p:cNvPr id="12" name="point 2 body"/>
          <p:cNvSpPr txBox="1"/>
          <p:nvPr/>
        </p:nvSpPr>
        <p:spPr>
          <a:xfrm>
            <a:off x="7863840" y="3474720"/>
            <a:ext cx="3749040" cy="1005840"/>
          </a:xfrm>
          <a:prstGeom prst="rect">
            <a:avLst/>
          </a:prstGeom>
          <a:noFill/>
          <a:ln/>
        </p:spPr>
        <p:txBody>
          <a:bodyPr wrap="square" lIns="0" tIns="0" rIns="0" bIns="0" rtlCol="0" anchor="t"/>
          <a:lstStyle/>
          <a:p>
            <a:pPr indent="0" marL="0">
              <a:buNone/>
            </a:pPr>
            <a:r>
              <a:rPr lang="en-US" sz="1500" dirty="0">
                <a:solidFill>
                  <a:schemeClr val="tx1"/>
                </a:solidFill>
              </a:rPr>
              <a:t>Engine threads run cycles and listeners; any thread we start needs an execution context handed to it.</a:t>
            </a:r>
            <a:endParaRPr lang="en-US" sz="1500" dirty="0"/>
          </a:p>
        </p:txBody>
      </p:sp>
      <p:sp>
        <p:nvSpPr>
          <p:cNvPr id="13" name="point 3 circle"/>
          <p:cNvSpPr/>
          <p:nvPr/>
        </p:nvSpPr>
        <p:spPr>
          <a:xfrm>
            <a:off x="6995160" y="4663440"/>
            <a:ext cx="640080" cy="640080"/>
          </a:xfrm>
          <a:prstGeom prst="ellipse">
            <a:avLst/>
          </a:prstGeom>
          <a:solidFill>
            <a:schemeClr val="accent1"/>
          </a:solidFill>
          <a:ln w="12700">
            <a:solidFill>
              <a:schemeClr val="accent1"/>
            </a:solidFill>
            <a:prstDash val="solid"/>
          </a:ln>
        </p:spPr>
      </p:sp>
      <p:pic>
        <p:nvPicPr>
          <p:cNvPr id="14" name="point 3 icon" descr="point 3 icon">    </p:cNvPr>
          <p:cNvPicPr>
            <a:picLocks noChangeAspect="1"/>
          </p:cNvPicPr>
          <p:nvPr/>
        </p:nvPicPr>
        <p:blipFill>
          <a:blip r:embed="rId4"/>
          <a:stretch>
            <a:fillRect/>
          </a:stretch>
        </p:blipFill>
        <p:spPr>
          <a:xfrm>
            <a:off x="7155180" y="4823460"/>
            <a:ext cx="320040" cy="320040"/>
          </a:xfrm>
          <a:prstGeom prst="rect">
            <a:avLst/>
          </a:prstGeom>
        </p:spPr>
      </p:pic>
      <p:sp>
        <p:nvSpPr>
          <p:cNvPr id="15" name="point 3 title"/>
          <p:cNvSpPr txBox="1"/>
          <p:nvPr/>
        </p:nvSpPr>
        <p:spPr>
          <a:xfrm>
            <a:off x="7863840" y="4645152"/>
            <a:ext cx="3749040" cy="411480"/>
          </a:xfrm>
          <a:prstGeom prst="rect">
            <a:avLst/>
          </a:prstGeom>
          <a:noFill/>
          <a:ln/>
        </p:spPr>
        <p:txBody>
          <a:bodyPr wrap="square" lIns="0" tIns="0" rIns="0" bIns="0" rtlCol="0" anchor="t"/>
          <a:lstStyle/>
          <a:p>
            <a:pPr indent="0" marL="0">
              <a:buNone/>
            </a:pPr>
            <a:r>
              <a:rPr lang="en-US" sz="1900" b="1" dirty="0">
                <a:solidFill>
                  <a:schemeClr val="tx2"/>
                </a:solidFill>
              </a:rPr>
              <a:t>One port for everyone</a:t>
            </a:r>
            <a:endParaRPr lang="en-US" sz="1900" dirty="0"/>
          </a:p>
        </p:txBody>
      </p:sp>
      <p:sp>
        <p:nvSpPr>
          <p:cNvPr id="16" name="point 3 body"/>
          <p:cNvSpPr txBox="1"/>
          <p:nvPr/>
        </p:nvSpPr>
        <p:spPr>
          <a:xfrm>
            <a:off x="7863840" y="5074920"/>
            <a:ext cx="3749040" cy="1005840"/>
          </a:xfrm>
          <a:prstGeom prst="rect">
            <a:avLst/>
          </a:prstGeom>
          <a:noFill/>
          <a:ln/>
        </p:spPr>
        <p:txBody>
          <a:bodyPr wrap="square" lIns="0" tIns="0" rIns="0" bIns="0" rtlCol="0" anchor="t"/>
          <a:lstStyle/>
          <a:p>
            <a:pPr indent="0" marL="0">
              <a:buNone/>
            </a:pPr>
            <a:r>
              <a:rPr lang="en-US" sz="1500" dirty="0">
                <a:solidFill>
                  <a:schemeClr val="tx1"/>
                </a:solidFill>
              </a:rPr>
              <a:t>The IDE, deephaven.ui, React apps, Python clients and other workers all come through port 10000.</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 worker publishes fields; clients reach them through tickets</a:t>
            </a:r>
            <a:endParaRPr lang="en-US" sz="3000" dirty="0"/>
          </a:p>
        </p:txBody>
      </p:sp>
      <p:pic>
        <p:nvPicPr>
          <p:cNvPr id="4" name="Diagram: global scope, application-mode apps, field registry, client sessions and engine inside one worker" descr="Diagram: global scope, application-mode apps, field registry, client sessions and engine inside one worker">    </p:cNvPr>
          <p:cNvPicPr>
            <a:picLocks noChangeAspect="1"/>
          </p:cNvPicPr>
          <p:nvPr/>
        </p:nvPicPr>
        <p:blipFill>
          <a:blip r:embed="rId1"/>
          <a:stretch>
            <a:fillRect/>
          </a:stretch>
        </p:blipFill>
        <p:spPr>
          <a:xfrm>
            <a:off x="548640" y="1325880"/>
            <a:ext cx="6675120" cy="3744822"/>
          </a:xfrm>
          <a:prstGeom prst="rect">
            <a:avLst/>
          </a:prstGeom>
        </p:spPr>
      </p:pic>
      <p:graphicFrame>
        <p:nvGraphicFramePr>
          <p:cNvPr id="7" name="ticket table"/>
          <p:cNvGraphicFramePr>
            <a:graphicFrameLocks noGrp="1"/>
          </p:cNvGraphicFramePr>
          <p:nvPr>
            <p:extLst>
              <p:ext uri="{D42A27DB-BD31-4B8C-83A1-F6EECF244321}">
                <p14:modId xmlns:p14="http://schemas.microsoft.com/office/powerpoint/2010/main" val="1579011935"/>
              </p:ext>
            </p:extLst>
          </p:nvPr>
        </p:nvGraphicFramePr>
        <p:xfrm>
          <a:off x="7498080" y="1417320"/>
          <a:ext cx="4142232" cy="914400"/>
        </p:xfrm>
        <a:graphic>
          <a:graphicData uri="http://schemas.openxmlformats.org/drawingml/2006/table">
            <a:tbl>
              <a:tblPr/>
              <a:tblGrid>
                <a:gridCol w="1051560"/>
                <a:gridCol w="1600200"/>
                <a:gridCol w="1490472"/>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Ticket</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F3D5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Bytes</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F3D5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Lives until</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F3D5E"/>
                    </a:solidFill>
                  </a:tcPr>
                </a:tc>
              </a:tr>
              <a:tr h="384048">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Scope</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s/&lt;name&gt;</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the name is unbound</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384048">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Application</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a/&lt;app&gt;/f/&lt;field&gt;</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the app drops it</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384048">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Export</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e + 4-byte number</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released or session ends</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384048">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Shared</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h + 16 random bytes</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200" dirty="0">
                          <a:solidFill>
                            <a:srgbClr val="17212B"/>
                          </a:solidFill>
                          <a:latin typeface="Calibri" pitchFamily="34" charset="0"/>
                          <a:ea typeface="Calibri" pitchFamily="34" charset="-122"/>
                          <a:cs typeface="Calibri" pitchFamily="34" charset="-120"/>
                        </a:rPr>
                        <a:t>the publisher's session ends</a:t>
                      </a:r>
                      <a:endParaRPr lang="en-US" sz="12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bl>
          </a:graphicData>
        </a:graphic>
      </p:graphicFrame>
      <p:sp>
        <p:nvSpPr>
          <p:cNvPr id="6" name="fields facts"/>
          <p:cNvSpPr/>
          <p:nvPr/>
        </p:nvSpPr>
        <p:spPr>
          <a:xfrm>
            <a:off x="7498080" y="3703320"/>
            <a:ext cx="4142232" cy="1874520"/>
          </a:xfrm>
          <a:prstGeom prst="roundRect">
            <a:avLst>
              <a:gd name="adj" fmla="val 3902"/>
            </a:avLst>
          </a:prstGeom>
          <a:solidFill>
            <a:schemeClr val="bg2"/>
          </a:solidFill>
          <a:ln w="9525">
            <a:solidFill>
              <a:schemeClr val="bg2"/>
            </a:solidFill>
            <a:prstDash val="solid"/>
          </a:ln>
        </p:spPr>
      </p:sp>
      <p:sp>
        <p:nvSpPr>
          <p:cNvPr id="7" name="fields facts text"/>
          <p:cNvSpPr txBox="1"/>
          <p:nvPr/>
        </p:nvSpPr>
        <p:spPr>
          <a:xfrm>
            <a:off x="7726680" y="3840480"/>
            <a:ext cx="3749040" cy="164592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Tested</a:t>
            </a:r>
            <a:endParaRPr lang="en-US" sz="1500" dirty="0"/>
          </a:p>
          <a:p>
            <a:pPr marL="342900" indent="-342900">
              <a:spcAft>
                <a:spcPts val="400"/>
              </a:spcAft>
              <a:buSzPct val="100000"/>
              <a:buChar char="•"/>
            </a:pPr>
            <a:r>
              <a:rPr lang="en-US" sz="1500" dirty="0">
                <a:solidFill>
                  <a:schemeClr val="tx1"/>
                </a:solidFill>
              </a:rPr>
              <a:t>Underscore names are published too</a:t>
            </a:r>
            <a:endParaRPr lang="en-US" sz="1500" dirty="0"/>
          </a:p>
          <a:p>
            <a:pPr marL="342900" indent="-342900">
              <a:spcAft>
                <a:spcPts val="400"/>
              </a:spcAft>
              <a:buSzPct val="100000"/>
              <a:buChar char="•"/>
            </a:pPr>
            <a:r>
              <a:rPr lang="en-US" sz="1500" dirty="0">
                <a:solidFill>
                  <a:schemeClr val="tx1"/>
                </a:solidFill>
              </a:rPr>
              <a:t>Two apps may use the same field name</a:t>
            </a:r>
            <a:endParaRPr lang="en-US" sz="1500" dirty="0"/>
          </a:p>
          <a:p>
            <a:pPr marL="342900" indent="-342900">
              <a:spcAft>
                <a:spcPts val="400"/>
              </a:spcAft>
              <a:buSzPct val="100000"/>
              <a:buChar char="•"/>
            </a:pPr>
            <a:r>
              <a:rPr lang="en-US" sz="1500" dirty="0">
                <a:solidFill>
                  <a:schemeClr val="tx1"/>
                </a:solidFill>
              </a:rPr>
              <a:t>bind_table outlives the binding session</a:t>
            </a:r>
            <a:endParaRPr lang="en-US" sz="1500" dirty="0"/>
          </a:p>
          <a:p>
            <a:pPr marL="342900" indent="-342900">
              <a:spcAft>
                <a:spcPts val="400"/>
              </a:spcAft>
              <a:buSzPct val="100000"/>
              <a:buChar char="•"/>
            </a:pPr>
            <a:r>
              <a:rPr lang="en-US" sz="1500" dirty="0">
                <a:solidFill>
                  <a:schemeClr val="tx1"/>
                </a:solidFill>
              </a:rPr>
              <a:t>A shared ticket dies with its publisher</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Live tables travel as change sets, not copies</a:t>
            </a:r>
            <a:endParaRPr lang="en-US" sz="3000" dirty="0"/>
          </a:p>
        </p:txBody>
      </p:sp>
      <p:pic>
        <p:nvPicPr>
          <p:cNvPr id="4" name="Diagram: producer worker, Barrage messages and consumer copy" descr="Diagram: producer worker, Barrage messages and consumer copy">    </p:cNvPr>
          <p:cNvPicPr>
            <a:picLocks noChangeAspect="1"/>
          </p:cNvPicPr>
          <p:nvPr/>
        </p:nvPicPr>
        <p:blipFill>
          <a:blip r:embed="rId1"/>
          <a:stretch>
            <a:fillRect/>
          </a:stretch>
        </p:blipFill>
        <p:spPr>
          <a:xfrm>
            <a:off x="548640" y="1325880"/>
            <a:ext cx="11094415" cy="3070776"/>
          </a:xfrm>
          <a:prstGeom prst="rect">
            <a:avLst/>
          </a:prstGeom>
        </p:spPr>
      </p:pic>
      <p:sp>
        <p:nvSpPr>
          <p:cNvPr id="5" name="barrage 1"/>
          <p:cNvSpPr/>
          <p:nvPr/>
        </p:nvSpPr>
        <p:spPr>
          <a:xfrm>
            <a:off x="548640" y="4754880"/>
            <a:ext cx="3606698" cy="1417320"/>
          </a:xfrm>
          <a:prstGeom prst="roundRect">
            <a:avLst>
              <a:gd name="adj" fmla="val 5161"/>
            </a:avLst>
          </a:prstGeom>
          <a:solidFill>
            <a:schemeClr val="bg2"/>
          </a:solidFill>
          <a:ln w="9525">
            <a:solidFill>
              <a:schemeClr val="bg2"/>
            </a:solidFill>
            <a:prstDash val="solid"/>
          </a:ln>
        </p:spPr>
      </p:sp>
      <p:sp>
        <p:nvSpPr>
          <p:cNvPr id="6" name="barrage 1 title"/>
          <p:cNvSpPr txBox="1"/>
          <p:nvPr/>
        </p:nvSpPr>
        <p:spPr>
          <a:xfrm>
            <a:off x="777240" y="4864608"/>
            <a:ext cx="3149498" cy="365760"/>
          </a:xfrm>
          <a:prstGeom prst="rect">
            <a:avLst/>
          </a:prstGeom>
          <a:noFill/>
          <a:ln/>
        </p:spPr>
        <p:txBody>
          <a:bodyPr wrap="square" lIns="0" tIns="0" rIns="0" bIns="0" rtlCol="0" anchor="t"/>
          <a:lstStyle/>
          <a:p>
            <a:pPr indent="0" marL="0">
              <a:buNone/>
            </a:pPr>
            <a:r>
              <a:rPr lang="en-US" sz="1700" b="1" dirty="0">
                <a:solidFill>
                  <a:schemeClr val="accent1"/>
                </a:solidFill>
              </a:rPr>
              <a:t>Viewports</a:t>
            </a:r>
            <a:endParaRPr lang="en-US" sz="1700" dirty="0"/>
          </a:p>
        </p:txBody>
      </p:sp>
      <p:sp>
        <p:nvSpPr>
          <p:cNvPr id="7" name="barrage 1 body"/>
          <p:cNvSpPr txBox="1"/>
          <p:nvPr/>
        </p:nvSpPr>
        <p:spPr>
          <a:xfrm>
            <a:off x="777240" y="5257800"/>
            <a:ext cx="3149498" cy="822960"/>
          </a:xfrm>
          <a:prstGeom prst="rect">
            <a:avLst/>
          </a:prstGeom>
          <a:noFill/>
          <a:ln/>
        </p:spPr>
        <p:txBody>
          <a:bodyPr wrap="square" lIns="0" tIns="0" rIns="0" bIns="0" rtlCol="0" anchor="t"/>
          <a:lstStyle/>
          <a:p>
            <a:pPr indent="0" marL="0">
              <a:buNone/>
            </a:pPr>
            <a:r>
              <a:rPr lang="en-US" sz="1400" dirty="0">
                <a:solidFill>
                  <a:schemeClr val="tx1"/>
                </a:solidFill>
              </a:rPr>
              <a:t>Subscribe to rows 0–49 of two columns; only visible, changed values travel.</a:t>
            </a:r>
            <a:endParaRPr lang="en-US" sz="1400" dirty="0"/>
          </a:p>
        </p:txBody>
      </p:sp>
      <p:sp>
        <p:nvSpPr>
          <p:cNvPr id="8" name="barrage 2"/>
          <p:cNvSpPr/>
          <p:nvPr/>
        </p:nvSpPr>
        <p:spPr>
          <a:xfrm>
            <a:off x="4292498" y="4754880"/>
            <a:ext cx="3606698" cy="1417320"/>
          </a:xfrm>
          <a:prstGeom prst="roundRect">
            <a:avLst>
              <a:gd name="adj" fmla="val 5161"/>
            </a:avLst>
          </a:prstGeom>
          <a:solidFill>
            <a:schemeClr val="bg2"/>
          </a:solidFill>
          <a:ln w="9525">
            <a:solidFill>
              <a:schemeClr val="bg2"/>
            </a:solidFill>
            <a:prstDash val="solid"/>
          </a:ln>
        </p:spPr>
      </p:sp>
      <p:sp>
        <p:nvSpPr>
          <p:cNvPr id="9" name="barrage 2 title"/>
          <p:cNvSpPr txBox="1"/>
          <p:nvPr/>
        </p:nvSpPr>
        <p:spPr>
          <a:xfrm>
            <a:off x="4521098" y="4864608"/>
            <a:ext cx="3149498" cy="365760"/>
          </a:xfrm>
          <a:prstGeom prst="rect">
            <a:avLst/>
          </a:prstGeom>
          <a:noFill/>
          <a:ln/>
        </p:spPr>
        <p:txBody>
          <a:bodyPr wrap="square" lIns="0" tIns="0" rIns="0" bIns="0" rtlCol="0" anchor="t"/>
          <a:lstStyle/>
          <a:p>
            <a:pPr indent="0" marL="0">
              <a:buNone/>
            </a:pPr>
            <a:r>
              <a:rPr lang="en-US" sz="1700" b="1" dirty="0">
                <a:solidFill>
                  <a:schemeClr val="accent1"/>
                </a:solidFill>
              </a:rPr>
              <a:t>One message, one step</a:t>
            </a:r>
            <a:endParaRPr lang="en-US" sz="1700" dirty="0"/>
          </a:p>
        </p:txBody>
      </p:sp>
      <p:sp>
        <p:nvSpPr>
          <p:cNvPr id="10" name="barrage 2 body"/>
          <p:cNvSpPr txBox="1"/>
          <p:nvPr/>
        </p:nvSpPr>
        <p:spPr>
          <a:xfrm>
            <a:off x="4521098" y="5257800"/>
            <a:ext cx="3149498" cy="822960"/>
          </a:xfrm>
          <a:prstGeom prst="rect">
            <a:avLst/>
          </a:prstGeom>
          <a:noFill/>
          <a:ln/>
        </p:spPr>
        <p:txBody>
          <a:bodyPr wrap="square" lIns="0" tIns="0" rIns="0" bIns="0" rtlCol="0" anchor="t"/>
          <a:lstStyle/>
          <a:p>
            <a:pPr indent="0" marL="0">
              <a:buNone/>
            </a:pPr>
            <a:r>
              <a:rPr lang="en-US" sz="1400" dirty="0">
                <a:solidFill>
                  <a:schemeClr val="tx1"/>
                </a:solidFill>
              </a:rPr>
              <a:t>Each message is a coherent update-graph step on the producer, never half a cycle.</a:t>
            </a:r>
            <a:endParaRPr lang="en-US" sz="1400" dirty="0"/>
          </a:p>
        </p:txBody>
      </p:sp>
      <p:sp>
        <p:nvSpPr>
          <p:cNvPr id="11" name="barrage 3"/>
          <p:cNvSpPr/>
          <p:nvPr/>
        </p:nvSpPr>
        <p:spPr>
          <a:xfrm>
            <a:off x="8036357" y="4754880"/>
            <a:ext cx="3606698" cy="1417320"/>
          </a:xfrm>
          <a:prstGeom prst="roundRect">
            <a:avLst>
              <a:gd name="adj" fmla="val 5161"/>
            </a:avLst>
          </a:prstGeom>
          <a:solidFill>
            <a:schemeClr val="bg2"/>
          </a:solidFill>
          <a:ln w="9525">
            <a:solidFill>
              <a:schemeClr val="bg2"/>
            </a:solidFill>
            <a:prstDash val="solid"/>
          </a:ln>
        </p:spPr>
      </p:sp>
      <p:sp>
        <p:nvSpPr>
          <p:cNvPr id="12" name="barrage 3 title"/>
          <p:cNvSpPr txBox="1"/>
          <p:nvPr/>
        </p:nvSpPr>
        <p:spPr>
          <a:xfrm>
            <a:off x="8264957" y="4864608"/>
            <a:ext cx="3149498" cy="365760"/>
          </a:xfrm>
          <a:prstGeom prst="rect">
            <a:avLst/>
          </a:prstGeom>
          <a:noFill/>
          <a:ln/>
        </p:spPr>
        <p:txBody>
          <a:bodyPr wrap="square" lIns="0" tIns="0" rIns="0" bIns="0" rtlCol="0" anchor="t"/>
          <a:lstStyle/>
          <a:p>
            <a:pPr indent="0" marL="0">
              <a:buNone/>
            </a:pPr>
            <a:r>
              <a:rPr lang="en-US" sz="1700" b="1" dirty="0">
                <a:solidFill>
                  <a:schemeClr val="accent1"/>
                </a:solidFill>
              </a:rPr>
              <a:t>Coalescing</a:t>
            </a:r>
            <a:endParaRPr lang="en-US" sz="1700" dirty="0"/>
          </a:p>
        </p:txBody>
      </p:sp>
      <p:sp>
        <p:nvSpPr>
          <p:cNvPr id="13" name="barrage 3 body"/>
          <p:cNvSpPr txBox="1"/>
          <p:nvPr/>
        </p:nvSpPr>
        <p:spPr>
          <a:xfrm>
            <a:off x="8264957" y="5257800"/>
            <a:ext cx="3149498" cy="822960"/>
          </a:xfrm>
          <a:prstGeom prst="rect">
            <a:avLst/>
          </a:prstGeom>
          <a:noFill/>
          <a:ln/>
        </p:spPr>
        <p:txBody>
          <a:bodyPr wrap="square" lIns="0" tIns="0" rIns="0" bIns="0" rtlCol="0" anchor="t"/>
          <a:lstStyle/>
          <a:p>
            <a:pPr indent="0" marL="0">
              <a:buNone/>
            </a:pPr>
            <a:r>
              <a:rPr lang="en-US" sz="1400" dirty="0">
                <a:solidFill>
                  <a:schemeClr val="tx1"/>
                </a:solidFill>
              </a:rPr>
              <a:t>A slow subscriber gets several cycles merged into one message, not a backlog.</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Across workers, each side keeps its own clock</a:t>
            </a:r>
            <a:endParaRPr lang="en-US" sz="3000" dirty="0"/>
          </a:p>
        </p:txBody>
      </p:sp>
      <p:pic>
        <p:nvPicPr>
          <p:cNvPr id="4" name="Diagram: producer and consumer clocks with a Barrage message between them" descr="Diagram: producer and consumer clocks with a Barrage message between them">    </p:cNvPr>
          <p:cNvPicPr>
            <a:picLocks noChangeAspect="1"/>
          </p:cNvPicPr>
          <p:nvPr/>
        </p:nvPicPr>
        <p:blipFill>
          <a:blip r:embed="rId1"/>
          <a:stretch>
            <a:fillRect/>
          </a:stretch>
        </p:blipFill>
        <p:spPr>
          <a:xfrm>
            <a:off x="548640" y="1508760"/>
            <a:ext cx="7406640" cy="2953839"/>
          </a:xfrm>
          <a:prstGeom prst="rect">
            <a:avLst/>
          </a:prstGeom>
        </p:spPr>
      </p:pic>
      <p:sp>
        <p:nvSpPr>
          <p:cNvPr id="5" name="latency card"/>
          <p:cNvSpPr/>
          <p:nvPr/>
        </p:nvSpPr>
        <p:spPr>
          <a:xfrm>
            <a:off x="8229600" y="1508760"/>
            <a:ext cx="3410712" cy="1600200"/>
          </a:xfrm>
          <a:prstGeom prst="roundRect">
            <a:avLst>
              <a:gd name="adj" fmla="val 4571"/>
            </a:avLst>
          </a:prstGeom>
          <a:solidFill>
            <a:schemeClr val="tx2"/>
          </a:solidFill>
          <a:ln w="9525">
            <a:solidFill>
              <a:schemeClr val="tx2"/>
            </a:solidFill>
            <a:prstDash val="solid"/>
          </a:ln>
        </p:spPr>
      </p:sp>
      <p:sp>
        <p:nvSpPr>
          <p:cNvPr id="6" name="latency text"/>
          <p:cNvSpPr txBox="1"/>
          <p:nvPr/>
        </p:nvSpPr>
        <p:spPr>
          <a:xfrm>
            <a:off x="8458200" y="1673352"/>
            <a:ext cx="2971800" cy="1325880"/>
          </a:xfrm>
          <a:prstGeom prst="rect">
            <a:avLst/>
          </a:prstGeom>
          <a:noFill/>
          <a:ln/>
        </p:spPr>
        <p:txBody>
          <a:bodyPr wrap="square" lIns="0" tIns="0" rIns="0" bIns="0" rtlCol="0" anchor="t"/>
          <a:lstStyle/>
          <a:p>
            <a:pPr indent="0" marL="0">
              <a:spcAft>
                <a:spcPts val="600"/>
              </a:spcAft>
              <a:buNone/>
            </a:pPr>
            <a:r>
              <a:rPr lang="en-US" sz="1700" b="1" dirty="0">
                <a:solidFill>
                  <a:schemeClr val="bg1"/>
                </a:solidFill>
              </a:rPr>
              <a:t>Cross-worker latency</a:t>
            </a:r>
            <a:endParaRPr lang="en-US" sz="1500" dirty="0"/>
          </a:p>
          <a:p>
            <a:pPr indent="0" marL="0">
              <a:spcAft>
                <a:spcPts val="600"/>
              </a:spcAft>
              <a:buNone/>
            </a:pPr>
            <a:r>
              <a:rPr lang="en-US" sz="2000" dirty="0">
                <a:solidFill>
                  <a:schemeClr val="bg1"/>
                </a:solidFill>
                <a:latin typeface="Cambria" pitchFamily="34" charset="0"/>
                <a:ea typeface="Cambria" pitchFamily="34" charset="-122"/>
                <a:cs typeface="Cambria" pitchFamily="34" charset="-120"/>
              </a:rPr>
              <a:t>producer wait + network + consumer wait</a:t>
            </a:r>
            <a:endParaRPr lang="en-US" sz="1500" dirty="0"/>
          </a:p>
        </p:txBody>
      </p:sp>
      <p:sp>
        <p:nvSpPr>
          <p:cNvPr id="7" name="uri notes"/>
          <p:cNvSpPr txBox="1"/>
          <p:nvPr/>
        </p:nvSpPr>
        <p:spPr>
          <a:xfrm>
            <a:off x="8229600" y="3520440"/>
            <a:ext cx="3410712" cy="2651760"/>
          </a:xfrm>
          <a:prstGeom prst="rect">
            <a:avLst/>
          </a:prstGeom>
          <a:noFill/>
          <a:ln/>
        </p:spPr>
        <p:txBody>
          <a:bodyPr wrap="square" lIns="0" tIns="0" rIns="0" bIns="0" rtlCol="0" anchor="t"/>
          <a:lstStyle/>
          <a:p>
            <a:pPr indent="0" marL="0">
              <a:buNone/>
            </a:pPr>
            <a:r>
              <a:rPr lang="en-US" sz="1400" b="1" dirty="0">
                <a:solidFill>
                  <a:schemeClr val="tx2"/>
                </a:solidFill>
              </a:rPr>
              <a:t>Enterprise (docs)</a:t>
            </a:r>
            <a:endParaRPr lang="en-US" sz="1400" dirty="0"/>
          </a:p>
          <a:p>
            <a:pPr indent="0" marL="0">
              <a:buNone/>
            </a:pPr>
            <a:r>
              <a:rPr lang="en-US" sz="1400" dirty="0">
                <a:solidFill>
                  <a:schemeClr val="tx1"/>
                </a:solidFill>
              </a:rPr>
              <a:t>pq://RiskEngine/scope/positions</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2"/>
                </a:solidFill>
              </a:rPr>
              <a:t>Community (tested)</a:t>
            </a:r>
            <a:endParaRPr lang="en-US" sz="1400" dirty="0"/>
          </a:p>
          <a:p>
            <a:pPr indent="0" marL="0">
              <a:buNone/>
            </a:pPr>
            <a:r>
              <a:rPr lang="en-US" sz="1400" dirty="0">
                <a:solidFill>
                  <a:schemeClr val="tx1"/>
                </a:solidFill>
              </a:rPr>
              <a:t>dh+plain://host:port/app/&lt;id&gt;/field/&lt;name&gt;</a:t>
            </a:r>
            <a:endParaRPr lang="en-US" sz="1400" dirty="0"/>
          </a:p>
          <a:p>
            <a:pPr indent="0" marL="0">
              <a:buNone/>
            </a:pPr>
            <a:r>
              <a:rPr lang="en-US" sz="600" dirty="0">
                <a:solidFill>
                  <a:schemeClr val="tx1"/>
                </a:solidFill>
              </a:rPr>
              <a:t> </a:t>
            </a:r>
            <a:endParaRPr lang="en-US" sz="1400" dirty="0"/>
          </a:p>
          <a:p>
            <a:pPr indent="0" marL="0">
              <a:buNone/>
            </a:pPr>
            <a:r>
              <a:rPr lang="en-US" sz="1400" i="1" dirty="0">
                <a:solidFill>
                  <a:schemeClr val="accent5"/>
                </a:solidFill>
              </a:rPr>
              <a:t>Resolving either adds a Barrage source node to the consumer's graph, even when it points at the same server.</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097280"/>
          </a:xfrm>
          <a:prstGeom prst="rect">
            <a:avLst/>
          </a:prstGeom>
          <a:noFill/>
          <a:ln/>
        </p:spPr>
        <p:txBody>
          <a:bodyPr wrap="square" lIns="0" tIns="0" rIns="0" bIns="0" rtlCol="0" anchor="b"/>
          <a:lstStyle/>
          <a:p>
            <a:pPr algn="l" indent="0" marL="0">
              <a:buNone/>
            </a:pPr>
            <a:r>
              <a:rPr lang="en-US" sz="4000" b="1" dirty="0">
                <a:solidFill>
                  <a:schemeClr val="bg1"/>
                </a:solidFill>
              </a:rPr>
              <a:t>2   The runtime in time</a:t>
            </a:r>
            <a:endParaRPr lang="en-US" sz="4000" dirty="0"/>
          </a:p>
        </p:txBody>
      </p:sp>
      <p:sp>
        <p:nvSpPr>
          <p:cNvPr id="3" name="Text 0"/>
          <p:cNvSpPr/>
          <p:nvPr>
            <p:ph idx="101" type="body" hasCustomPrompt="1"/>
          </p:nvPr>
        </p:nvSpPr>
        <p:spPr>
          <a:xfrm>
            <a:off x="731520" y="3611880"/>
            <a:ext cx="10241280" cy="822960"/>
          </a:xfrm>
          <a:prstGeom prst="rect">
            <a:avLst/>
          </a:prstGeom>
          <a:noFill/>
          <a:ln/>
        </p:spPr>
        <p:txBody>
          <a:bodyPr wrap="square" lIns="0" tIns="0" rIns="0" bIns="0" rtlCol="0" anchor="t"/>
          <a:lstStyle/>
          <a:p>
            <a:pPr indent="0" marL="0">
              <a:buNone/>
            </a:pPr>
            <a:r>
              <a:rPr lang="en-US" sz="2000" dirty="0">
                <a:solidFill>
                  <a:schemeClr val="bg2"/>
                </a:solidFill>
              </a:rPr>
              <a:t>Startup, steady-state cycles and shutdown, across every thread and process</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Startup builds the graph once; then each cycle drives it</a:t>
            </a:r>
            <a:endParaRPr lang="en-US" sz="3000" dirty="0"/>
          </a:p>
        </p:txBody>
      </p:sp>
      <p:pic>
        <p:nvPicPr>
          <p:cNvPr id="4" name="Swimlane diagram: startup, steady state and shutdown across process, threads, clients and subprocess" descr="Swimlane diagram: startup, steady state and shutdown across process, threads, clients and subprocess">    </p:cNvPr>
          <p:cNvPicPr>
            <a:picLocks noChangeAspect="1"/>
          </p:cNvPicPr>
          <p:nvPr/>
        </p:nvPicPr>
        <p:blipFill>
          <a:blip r:embed="rId1"/>
          <a:stretch>
            <a:fillRect/>
          </a:stretch>
        </p:blipFill>
        <p:spPr>
          <a:xfrm>
            <a:off x="548640" y="1280160"/>
            <a:ext cx="8721090" cy="4983480"/>
          </a:xfrm>
          <a:prstGeom prst="rect">
            <a:avLst/>
          </a:prstGeom>
        </p:spPr>
      </p:pic>
      <p:sp>
        <p:nvSpPr>
          <p:cNvPr id="5" name="phase 1 title"/>
          <p:cNvSpPr txBox="1"/>
          <p:nvPr/>
        </p:nvSpPr>
        <p:spPr>
          <a:xfrm>
            <a:off x="9555480" y="1463040"/>
            <a:ext cx="2103120" cy="411480"/>
          </a:xfrm>
          <a:prstGeom prst="rect">
            <a:avLst/>
          </a:prstGeom>
          <a:noFill/>
          <a:ln/>
        </p:spPr>
        <p:txBody>
          <a:bodyPr wrap="square" lIns="0" tIns="0" rIns="0" bIns="0" rtlCol="0" anchor="t"/>
          <a:lstStyle/>
          <a:p>
            <a:pPr indent="0" marL="0">
              <a:buNone/>
            </a:pPr>
            <a:r>
              <a:rPr lang="en-US" sz="1900" b="1" dirty="0">
                <a:solidFill>
                  <a:schemeClr val="accent1"/>
                </a:solidFill>
              </a:rPr>
              <a:t>Once</a:t>
            </a:r>
            <a:endParaRPr lang="en-US" sz="1900" dirty="0"/>
          </a:p>
        </p:txBody>
      </p:sp>
      <p:sp>
        <p:nvSpPr>
          <p:cNvPr id="6" name="phase 1 body"/>
          <p:cNvSpPr txBox="1"/>
          <p:nvPr/>
        </p:nvSpPr>
        <p:spPr>
          <a:xfrm>
            <a:off x="9555480" y="1874520"/>
            <a:ext cx="2103120" cy="1051560"/>
          </a:xfrm>
          <a:prstGeom prst="rect">
            <a:avLst/>
          </a:prstGeom>
          <a:noFill/>
          <a:ln/>
        </p:spPr>
        <p:txBody>
          <a:bodyPr wrap="square" lIns="0" tIns="0" rIns="0" bIns="0" rtlCol="0" anchor="t"/>
          <a:lstStyle/>
          <a:p>
            <a:pPr indent="0" marL="0">
              <a:buNone/>
            </a:pPr>
            <a:r>
              <a:rPr lang="en-US" sz="1400" dirty="0">
                <a:solidFill>
                  <a:schemeClr val="tx1"/>
                </a:solidFill>
              </a:rPr>
              <a:t>config, plugins, Python, app scripts, then the port opens</a:t>
            </a:r>
            <a:endParaRPr lang="en-US" sz="1400" dirty="0"/>
          </a:p>
        </p:txBody>
      </p:sp>
      <p:sp>
        <p:nvSpPr>
          <p:cNvPr id="7" name="phase 2 title"/>
          <p:cNvSpPr txBox="1"/>
          <p:nvPr/>
        </p:nvSpPr>
        <p:spPr>
          <a:xfrm>
            <a:off x="9555480" y="3063240"/>
            <a:ext cx="2103120" cy="411480"/>
          </a:xfrm>
          <a:prstGeom prst="rect">
            <a:avLst/>
          </a:prstGeom>
          <a:noFill/>
          <a:ln/>
        </p:spPr>
        <p:txBody>
          <a:bodyPr wrap="square" lIns="0" tIns="0" rIns="0" bIns="0" rtlCol="0" anchor="t"/>
          <a:lstStyle/>
          <a:p>
            <a:pPr indent="0" marL="0">
              <a:buNone/>
            </a:pPr>
            <a:r>
              <a:rPr lang="en-US" sz="1900" b="1" dirty="0">
                <a:solidFill>
                  <a:schemeClr val="accent3"/>
                </a:solidFill>
              </a:rPr>
              <a:t>Every tick</a:t>
            </a:r>
            <a:endParaRPr lang="en-US" sz="1900" dirty="0"/>
          </a:p>
        </p:txBody>
      </p:sp>
      <p:sp>
        <p:nvSpPr>
          <p:cNvPr id="8" name="phase 2 body"/>
          <p:cNvSpPr txBox="1"/>
          <p:nvPr/>
        </p:nvSpPr>
        <p:spPr>
          <a:xfrm>
            <a:off x="9555480" y="3474720"/>
            <a:ext cx="2103120" cy="1051560"/>
          </a:xfrm>
          <a:prstGeom prst="rect">
            <a:avLst/>
          </a:prstGeom>
          <a:noFill/>
          <a:ln/>
        </p:spPr>
        <p:txBody>
          <a:bodyPr wrap="square" lIns="0" tIns="0" rIns="0" bIns="0" rtlCol="0" anchor="t"/>
          <a:lstStyle/>
          <a:p>
            <a:pPr indent="0" marL="0">
              <a:buNone/>
            </a:pPr>
            <a:r>
              <a:rPr lang="en-US" sz="1400" dirty="0">
                <a:solidFill>
                  <a:schemeClr val="tx1"/>
                </a:solidFill>
              </a:rPr>
              <a:t>refresh sources, propagate, run listeners, publish deltas</a:t>
            </a:r>
            <a:endParaRPr lang="en-US" sz="1400" dirty="0"/>
          </a:p>
        </p:txBody>
      </p:sp>
      <p:sp>
        <p:nvSpPr>
          <p:cNvPr id="9" name="phase 3 title"/>
          <p:cNvSpPr txBox="1"/>
          <p:nvPr/>
        </p:nvSpPr>
        <p:spPr>
          <a:xfrm>
            <a:off x="9555480" y="4663440"/>
            <a:ext cx="2103120" cy="411480"/>
          </a:xfrm>
          <a:prstGeom prst="rect">
            <a:avLst/>
          </a:prstGeom>
          <a:noFill/>
          <a:ln/>
        </p:spPr>
        <p:txBody>
          <a:bodyPr wrap="square" lIns="0" tIns="0" rIns="0" bIns="0" rtlCol="0" anchor="t"/>
          <a:lstStyle/>
          <a:p>
            <a:pPr indent="0" marL="0">
              <a:buNone/>
            </a:pPr>
            <a:r>
              <a:rPr lang="en-US" sz="1900" b="1" dirty="0">
                <a:solidFill>
                  <a:schemeClr val="accent2"/>
                </a:solidFill>
              </a:rPr>
              <a:t>At the end</a:t>
            </a:r>
            <a:endParaRPr lang="en-US" sz="1900" dirty="0"/>
          </a:p>
        </p:txBody>
      </p:sp>
      <p:sp>
        <p:nvSpPr>
          <p:cNvPr id="10" name="phase 3 body"/>
          <p:cNvSpPr txBox="1"/>
          <p:nvPr/>
        </p:nvSpPr>
        <p:spPr>
          <a:xfrm>
            <a:off x="9555480" y="5074920"/>
            <a:ext cx="2103120" cy="1051560"/>
          </a:xfrm>
          <a:prstGeom prst="rect">
            <a:avLst/>
          </a:prstGeom>
          <a:noFill/>
          <a:ln/>
        </p:spPr>
        <p:txBody>
          <a:bodyPr wrap="square" lIns="0" tIns="0" rIns="0" bIns="0" rtlCol="0" anchor="t"/>
          <a:lstStyle/>
          <a:p>
            <a:pPr indent="0" marL="0">
              <a:buNone/>
            </a:pPr>
            <a:r>
              <a:rPr lang="en-US" sz="1400" dirty="0">
                <a:solidFill>
                  <a:schemeClr val="tx1"/>
                </a:solidFill>
              </a:rPr>
              <a:t>stop events, stop listeners, flush sinks, close sessions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Each cycle is one consistent checkpoint</a:t>
            </a:r>
            <a:endParaRPr lang="en-US" sz="3000" dirty="0"/>
          </a:p>
        </p:txBody>
      </p:sp>
      <p:pic>
        <p:nvPicPr>
          <p:cNvPr id="4" name="Diagram: idle, refresh sources, propagate, complete" descr="Diagram: idle, refresh sources, propagate, complete">    </p:cNvPr>
          <p:cNvPicPr>
            <a:picLocks noChangeAspect="1"/>
          </p:cNvPicPr>
          <p:nvPr/>
        </p:nvPicPr>
        <p:blipFill>
          <a:blip r:embed="rId1"/>
          <a:stretch>
            <a:fillRect/>
          </a:stretch>
        </p:blipFill>
        <p:spPr>
          <a:xfrm>
            <a:off x="636653" y="1325880"/>
            <a:ext cx="10918389" cy="3931920"/>
          </a:xfrm>
          <a:prstGeom prst="rect">
            <a:avLst/>
          </a:prstGeom>
        </p:spPr>
      </p:pic>
      <p:sp>
        <p:nvSpPr>
          <p:cNvPr id="5" name="cycle stat 1 value"/>
          <p:cNvSpPr txBox="1"/>
          <p:nvPr/>
        </p:nvSpPr>
        <p:spPr>
          <a:xfrm>
            <a:off x="548640" y="5257800"/>
            <a:ext cx="3423818" cy="45720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~1 s</a:t>
            </a:r>
            <a:endParaRPr lang="en-US" sz="2800" dirty="0"/>
          </a:p>
        </p:txBody>
      </p:sp>
      <p:sp>
        <p:nvSpPr>
          <p:cNvPr id="6" name="cycle stat 1 label"/>
          <p:cNvSpPr txBox="1"/>
          <p:nvPr/>
        </p:nvSpPr>
        <p:spPr>
          <a:xfrm>
            <a:off x="548640" y="5760720"/>
            <a:ext cx="3423818" cy="502920"/>
          </a:xfrm>
          <a:prstGeom prst="rect">
            <a:avLst/>
          </a:prstGeom>
          <a:noFill/>
          <a:ln/>
        </p:spPr>
        <p:txBody>
          <a:bodyPr wrap="square" lIns="0" tIns="0" rIns="0" bIns="0" rtlCol="0" anchor="t"/>
          <a:lstStyle/>
          <a:p>
            <a:pPr indent="0" marL="0">
              <a:buNone/>
            </a:pPr>
            <a:r>
              <a:rPr lang="en-US" sz="1400" dirty="0">
                <a:solidFill>
                  <a:schemeClr val="tx1"/>
                </a:solidFill>
              </a:rPr>
              <a:t>default cycle; ticks 0.5 s apart arrived in pairs</a:t>
            </a:r>
            <a:endParaRPr lang="en-US" sz="1400" dirty="0"/>
          </a:p>
        </p:txBody>
      </p:sp>
      <p:sp>
        <p:nvSpPr>
          <p:cNvPr id="7" name="cycle stat 2 value"/>
          <p:cNvSpPr txBox="1"/>
          <p:nvPr/>
        </p:nvSpPr>
        <p:spPr>
          <a:xfrm>
            <a:off x="4246778" y="5257800"/>
            <a:ext cx="3423818" cy="457200"/>
          </a:xfrm>
          <a:prstGeom prst="rect">
            <a:avLst/>
          </a:prstGeom>
          <a:noFill/>
          <a:ln/>
        </p:spPr>
        <p:txBody>
          <a:bodyPr wrap="square" lIns="0" tIns="0" rIns="0" bIns="0" rtlCol="0" anchor="b"/>
          <a:lstStyle/>
          <a:p>
            <a:pPr indent="0" marL="0">
              <a:buNone/>
            </a:pPr>
            <a:r>
              <a:rPr lang="en-US" sz="2800" b="1" dirty="0">
                <a:solidFill>
                  <a:schemeClr val="accent2"/>
                </a:solidFill>
                <a:latin typeface="Cambria" pitchFamily="34" charset="0"/>
                <a:ea typeface="Cambria" pitchFamily="34" charset="-122"/>
                <a:cs typeface="Cambria" pitchFamily="34" charset="-120"/>
              </a:rPr>
              <a:t>≤ 1,000 ms</a:t>
            </a:r>
            <a:endParaRPr lang="en-US" sz="2800" dirty="0"/>
          </a:p>
        </p:txBody>
      </p:sp>
      <p:sp>
        <p:nvSpPr>
          <p:cNvPr id="8" name="cycle stat 2 label"/>
          <p:cNvSpPr txBox="1"/>
          <p:nvPr/>
        </p:nvSpPr>
        <p:spPr>
          <a:xfrm>
            <a:off x="4246778" y="5760720"/>
            <a:ext cx="3423818" cy="502920"/>
          </a:xfrm>
          <a:prstGeom prst="rect">
            <a:avLst/>
          </a:prstGeom>
          <a:noFill/>
          <a:ln/>
        </p:spPr>
        <p:txBody>
          <a:bodyPr wrap="square" lIns="0" tIns="0" rIns="0" bIns="0" rtlCol="0" anchor="t"/>
          <a:lstStyle/>
          <a:p>
            <a:pPr indent="0" marL="0">
              <a:buNone/>
            </a:pPr>
            <a:r>
              <a:rPr lang="en-US" sz="1400" dirty="0">
                <a:solidFill>
                  <a:schemeClr val="tx1"/>
                </a:solidFill>
              </a:rPr>
              <a:t>rows pushed from Python waited for the next cycle</a:t>
            </a:r>
            <a:endParaRPr lang="en-US" sz="1400" dirty="0"/>
          </a:p>
        </p:txBody>
      </p:sp>
      <p:sp>
        <p:nvSpPr>
          <p:cNvPr id="9" name="cycle stat 3 value"/>
          <p:cNvSpPr txBox="1"/>
          <p:nvPr/>
        </p:nvSpPr>
        <p:spPr>
          <a:xfrm>
            <a:off x="7944917" y="5257800"/>
            <a:ext cx="3423818" cy="457200"/>
          </a:xfrm>
          <a:prstGeom prst="rect">
            <a:avLst/>
          </a:prstGeom>
          <a:noFill/>
          <a:ln/>
        </p:spPr>
        <p:txBody>
          <a:bodyPr wrap="square" lIns="0" tIns="0" rIns="0" bIns="0" rtlCol="0" anchor="b"/>
          <a:lstStyle/>
          <a:p>
            <a:pPr indent="0" marL="0">
              <a:buNone/>
            </a:pPr>
            <a:r>
              <a:rPr lang="en-US" sz="2800" b="1" dirty="0">
                <a:solidFill>
                  <a:schemeClr val="accent3"/>
                </a:solidFill>
                <a:latin typeface="Cambria" pitchFamily="34" charset="0"/>
                <a:ea typeface="Cambria" pitchFamily="34" charset="-122"/>
                <a:cs typeface="Cambria" pitchFamily="34" charset="-120"/>
              </a:rPr>
              <a:t>1 callback</a:t>
            </a:r>
            <a:endParaRPr lang="en-US" sz="2800" dirty="0"/>
          </a:p>
        </p:txBody>
      </p:sp>
      <p:sp>
        <p:nvSpPr>
          <p:cNvPr id="10" name="cycle stat 3 label"/>
          <p:cNvSpPr txBox="1"/>
          <p:nvPr/>
        </p:nvSpPr>
        <p:spPr>
          <a:xfrm>
            <a:off x="7944917" y="5760720"/>
            <a:ext cx="3423818" cy="502920"/>
          </a:xfrm>
          <a:prstGeom prst="rect">
            <a:avLst/>
          </a:prstGeom>
          <a:noFill/>
          <a:ln/>
        </p:spPr>
        <p:txBody>
          <a:bodyPr wrap="square" lIns="0" tIns="0" rIns="0" bIns="0" rtlCol="0" anchor="t"/>
          <a:lstStyle/>
          <a:p>
            <a:pPr indent="0" marL="0">
              <a:buNone/>
            </a:pPr>
            <a:r>
              <a:rPr lang="en-US" sz="1400" dirty="0">
                <a:solidFill>
                  <a:schemeClr val="tx1"/>
                </a:solidFill>
              </a:rPr>
              <a:t>per cycle, with ~4 quotes, 4–5 orders, 1–2 signals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The clock can be ours: an event-driven update graph</a:t>
            </a:r>
            <a:endParaRPr lang="en-US" sz="3000" dirty="0"/>
          </a:p>
        </p:txBody>
      </p:sp>
      <p:sp>
        <p:nvSpPr>
          <p:cNvPr id="4" name="clock step 1"/>
          <p:cNvSpPr/>
          <p:nvPr/>
        </p:nvSpPr>
        <p:spPr>
          <a:xfrm>
            <a:off x="548640" y="1508760"/>
            <a:ext cx="2377440" cy="1874520"/>
          </a:xfrm>
          <a:prstGeom prst="roundRect">
            <a:avLst>
              <a:gd name="adj" fmla="val 3902"/>
            </a:avLst>
          </a:prstGeom>
          <a:solidFill>
            <a:schemeClr val="bg2"/>
          </a:solidFill>
          <a:ln w="9525">
            <a:solidFill>
              <a:schemeClr val="bg2"/>
            </a:solidFill>
            <a:prstDash val="solid"/>
          </a:ln>
        </p:spPr>
      </p:sp>
      <p:sp>
        <p:nvSpPr>
          <p:cNvPr id="5" name="clock step 1 title"/>
          <p:cNvSpPr txBox="1"/>
          <p:nvPr/>
        </p:nvSpPr>
        <p:spPr>
          <a:xfrm>
            <a:off x="731520" y="1673352"/>
            <a:ext cx="2011680" cy="45720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Push three rows</a:t>
            </a:r>
            <a:endParaRPr lang="en-US" sz="1900" dirty="0"/>
          </a:p>
        </p:txBody>
      </p:sp>
      <p:sp>
        <p:nvSpPr>
          <p:cNvPr id="6" name="clock step 1 body"/>
          <p:cNvSpPr txBox="1"/>
          <p:nvPr/>
        </p:nvSpPr>
        <p:spPr>
          <a:xfrm>
            <a:off x="731520" y="2194560"/>
            <a:ext cx="2011680" cy="548640"/>
          </a:xfrm>
          <a:prstGeom prst="rect">
            <a:avLst/>
          </a:prstGeom>
          <a:noFill/>
          <a:ln/>
        </p:spPr>
        <p:txBody>
          <a:bodyPr wrap="square" lIns="0" tIns="0" rIns="0" bIns="0" rtlCol="0" anchor="t"/>
          <a:lstStyle/>
          <a:p>
            <a:pPr indent="0" marL="0">
              <a:buNone/>
            </a:pPr>
            <a:r>
              <a:rPr lang="en-US" sz="1600" b="1" dirty="0">
                <a:solidFill>
                  <a:schemeClr val="tx2"/>
                </a:solidFill>
              </a:rPr>
              <a:t>A: 100, 200, 300</a:t>
            </a:r>
            <a:endParaRPr lang="en-US" sz="1600" dirty="0"/>
          </a:p>
        </p:txBody>
      </p:sp>
      <p:sp>
        <p:nvSpPr>
          <p:cNvPr id="7" name="clock step 1 note"/>
          <p:cNvSpPr txBox="1"/>
          <p:nvPr/>
        </p:nvSpPr>
        <p:spPr>
          <a:xfrm>
            <a:off x="731520" y="2743200"/>
            <a:ext cx="2011680" cy="502920"/>
          </a:xfrm>
          <a:prstGeom prst="rect">
            <a:avLst/>
          </a:prstGeom>
          <a:noFill/>
          <a:ln/>
        </p:spPr>
        <p:txBody>
          <a:bodyPr wrap="square" lIns="0" tIns="0" rIns="0" bIns="0" rtlCol="0" anchor="t"/>
          <a:lstStyle/>
          <a:p>
            <a:pPr indent="0" marL="0">
              <a:buNone/>
            </a:pPr>
            <a:r>
              <a:rPr lang="en-US" sz="1300" dirty="0">
                <a:solidFill>
                  <a:schemeClr val="tx2"/>
                </a:solidFill>
              </a:rPr>
              <a:t>1.5 s idle: still step 2, 0 callbacks</a:t>
            </a:r>
            <a:endParaRPr lang="en-US" sz="1300" dirty="0"/>
          </a:p>
        </p:txBody>
      </p:sp>
      <p:sp>
        <p:nvSpPr>
          <p:cNvPr id="8" name="clock arrow 1"/>
          <p:cNvSpPr/>
          <p:nvPr/>
        </p:nvSpPr>
        <p:spPr>
          <a:xfrm>
            <a:off x="2999232" y="2441448"/>
            <a:ext cx="381914" cy="0"/>
          </a:xfrm>
          <a:prstGeom prst="line">
            <a:avLst/>
          </a:prstGeom>
          <a:noFill/>
          <a:ln w="25400">
            <a:solidFill>
              <a:srgbClr val="5F6F82"/>
            </a:solidFill>
            <a:prstDash val="solid"/>
            <a:tailEnd type="triangle"/>
          </a:ln>
        </p:spPr>
      </p:sp>
      <p:sp>
        <p:nvSpPr>
          <p:cNvPr id="9" name="clock step 2"/>
          <p:cNvSpPr/>
          <p:nvPr/>
        </p:nvSpPr>
        <p:spPr>
          <a:xfrm>
            <a:off x="3454298" y="1508760"/>
            <a:ext cx="2377440" cy="1874520"/>
          </a:xfrm>
          <a:prstGeom prst="roundRect">
            <a:avLst>
              <a:gd name="adj" fmla="val 3902"/>
            </a:avLst>
          </a:prstGeom>
          <a:solidFill>
            <a:schemeClr val="accent2"/>
          </a:solidFill>
          <a:ln w="9525">
            <a:solidFill>
              <a:schemeClr val="accent2"/>
            </a:solidFill>
            <a:prstDash val="solid"/>
          </a:ln>
        </p:spPr>
      </p:sp>
      <p:sp>
        <p:nvSpPr>
          <p:cNvPr id="10" name="clock step 2 title"/>
          <p:cNvSpPr txBox="1"/>
          <p:nvPr/>
        </p:nvSpPr>
        <p:spPr>
          <a:xfrm>
            <a:off x="3637178" y="1673352"/>
            <a:ext cx="2011680" cy="457200"/>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requestRefresh()</a:t>
            </a:r>
            <a:endParaRPr lang="en-US" sz="1900" dirty="0"/>
          </a:p>
        </p:txBody>
      </p:sp>
      <p:sp>
        <p:nvSpPr>
          <p:cNvPr id="11" name="clock step 2 body"/>
          <p:cNvSpPr txBox="1"/>
          <p:nvPr/>
        </p:nvSpPr>
        <p:spPr>
          <a:xfrm>
            <a:off x="3637178" y="2194560"/>
            <a:ext cx="2011680" cy="548640"/>
          </a:xfrm>
          <a:prstGeom prst="rect">
            <a:avLst/>
          </a:prstGeom>
          <a:noFill/>
          <a:ln/>
        </p:spPr>
        <p:txBody>
          <a:bodyPr wrap="square" lIns="0" tIns="0" rIns="0" bIns="0" rtlCol="0" anchor="t"/>
          <a:lstStyle/>
          <a:p>
            <a:pPr indent="0" marL="0">
              <a:buNone/>
            </a:pPr>
            <a:r>
              <a:rPr lang="en-US" sz="1600" b="1" dirty="0">
                <a:solidFill>
                  <a:schemeClr val="bg1"/>
                </a:solidFill>
              </a:rPr>
              <a:t>our checkpoint</a:t>
            </a:r>
            <a:endParaRPr lang="en-US" sz="1600" dirty="0"/>
          </a:p>
        </p:txBody>
      </p:sp>
      <p:sp>
        <p:nvSpPr>
          <p:cNvPr id="12" name="clock step 2 note"/>
          <p:cNvSpPr txBox="1"/>
          <p:nvPr/>
        </p:nvSpPr>
        <p:spPr>
          <a:xfrm>
            <a:off x="3637178" y="2743200"/>
            <a:ext cx="2011680" cy="502920"/>
          </a:xfrm>
          <a:prstGeom prst="rect">
            <a:avLst/>
          </a:prstGeom>
          <a:noFill/>
          <a:ln/>
        </p:spPr>
        <p:txBody>
          <a:bodyPr wrap="square" lIns="0" tIns="0" rIns="0" bIns="0" rtlCol="0" anchor="t"/>
          <a:lstStyle/>
          <a:p>
            <a:pPr indent="0" marL="0">
              <a:buNone/>
            </a:pPr>
            <a:r>
              <a:rPr lang="en-US" sz="1300" dirty="0">
                <a:solidFill>
                  <a:schemeClr val="bg1"/>
                </a:solidFill>
              </a:rPr>
              <a:t>one call from our code</a:t>
            </a:r>
            <a:endParaRPr lang="en-US" sz="1300" dirty="0"/>
          </a:p>
        </p:txBody>
      </p:sp>
      <p:sp>
        <p:nvSpPr>
          <p:cNvPr id="13" name="clock arrow 2"/>
          <p:cNvSpPr/>
          <p:nvPr/>
        </p:nvSpPr>
        <p:spPr>
          <a:xfrm>
            <a:off x="5904890" y="2441448"/>
            <a:ext cx="381914" cy="0"/>
          </a:xfrm>
          <a:prstGeom prst="line">
            <a:avLst/>
          </a:prstGeom>
          <a:noFill/>
          <a:ln w="25400">
            <a:solidFill>
              <a:srgbClr val="5F6F82"/>
            </a:solidFill>
            <a:prstDash val="solid"/>
            <a:tailEnd type="triangle"/>
          </a:ln>
        </p:spPr>
      </p:sp>
      <p:sp>
        <p:nvSpPr>
          <p:cNvPr id="14" name="clock step 3"/>
          <p:cNvSpPr/>
          <p:nvPr/>
        </p:nvSpPr>
        <p:spPr>
          <a:xfrm>
            <a:off x="6359957" y="1508760"/>
            <a:ext cx="2377440" cy="1874520"/>
          </a:xfrm>
          <a:prstGeom prst="roundRect">
            <a:avLst>
              <a:gd name="adj" fmla="val 3902"/>
            </a:avLst>
          </a:prstGeom>
          <a:solidFill>
            <a:schemeClr val="bg2"/>
          </a:solidFill>
          <a:ln w="9525">
            <a:solidFill>
              <a:schemeClr val="bg2"/>
            </a:solidFill>
            <a:prstDash val="solid"/>
          </a:ln>
        </p:spPr>
      </p:sp>
      <p:sp>
        <p:nvSpPr>
          <p:cNvPr id="15" name="clock step 3 title"/>
          <p:cNvSpPr txBox="1"/>
          <p:nvPr/>
        </p:nvSpPr>
        <p:spPr>
          <a:xfrm>
            <a:off x="6542837" y="1673352"/>
            <a:ext cx="2011680" cy="45720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One step</a:t>
            </a:r>
            <a:endParaRPr lang="en-US" sz="1900" dirty="0"/>
          </a:p>
        </p:txBody>
      </p:sp>
      <p:sp>
        <p:nvSpPr>
          <p:cNvPr id="16" name="clock step 3 body"/>
          <p:cNvSpPr txBox="1"/>
          <p:nvPr/>
        </p:nvSpPr>
        <p:spPr>
          <a:xfrm>
            <a:off x="6542837" y="2194560"/>
            <a:ext cx="2011680" cy="548640"/>
          </a:xfrm>
          <a:prstGeom prst="rect">
            <a:avLst/>
          </a:prstGeom>
          <a:noFill/>
          <a:ln/>
        </p:spPr>
        <p:txBody>
          <a:bodyPr wrap="square" lIns="0" tIns="0" rIns="0" bIns="0" rtlCol="0" anchor="t"/>
          <a:lstStyle/>
          <a:p>
            <a:pPr indent="0" marL="0">
              <a:buNone/>
            </a:pPr>
            <a:r>
              <a:rPr lang="en-US" sz="1600" b="1" dirty="0">
                <a:solidFill>
                  <a:schemeClr val="tx2"/>
                </a:solidFill>
              </a:rPr>
              <a:t>1 callback: A = 600</a:t>
            </a:r>
            <a:endParaRPr lang="en-US" sz="1600" dirty="0"/>
          </a:p>
        </p:txBody>
      </p:sp>
      <p:sp>
        <p:nvSpPr>
          <p:cNvPr id="17" name="clock step 3 note"/>
          <p:cNvSpPr txBox="1"/>
          <p:nvPr/>
        </p:nvSpPr>
        <p:spPr>
          <a:xfrm>
            <a:off x="6542837" y="2743200"/>
            <a:ext cx="2011680" cy="502920"/>
          </a:xfrm>
          <a:prstGeom prst="rect">
            <a:avLst/>
          </a:prstGeom>
          <a:noFill/>
          <a:ln/>
        </p:spPr>
        <p:txBody>
          <a:bodyPr wrap="square" lIns="0" tIns="0" rIns="0" bIns="0" rtlCol="0" anchor="t"/>
          <a:lstStyle/>
          <a:p>
            <a:pPr indent="0" marL="0">
              <a:buNone/>
            </a:pPr>
            <a:r>
              <a:rPr lang="en-US" sz="1300" dirty="0">
                <a:solidFill>
                  <a:schemeClr val="tx2"/>
                </a:solidFill>
              </a:rPr>
              <a:t>step 3: all three pushes together</a:t>
            </a:r>
            <a:endParaRPr lang="en-US" sz="1300" dirty="0"/>
          </a:p>
        </p:txBody>
      </p:sp>
      <p:sp>
        <p:nvSpPr>
          <p:cNvPr id="18" name="clock arrow 3"/>
          <p:cNvSpPr/>
          <p:nvPr/>
        </p:nvSpPr>
        <p:spPr>
          <a:xfrm>
            <a:off x="8810549" y="2441448"/>
            <a:ext cx="381914" cy="0"/>
          </a:xfrm>
          <a:prstGeom prst="line">
            <a:avLst/>
          </a:prstGeom>
          <a:noFill/>
          <a:ln w="25400">
            <a:solidFill>
              <a:srgbClr val="5F6F82"/>
            </a:solidFill>
            <a:prstDash val="solid"/>
            <a:tailEnd type="triangle"/>
          </a:ln>
        </p:spPr>
      </p:sp>
      <p:sp>
        <p:nvSpPr>
          <p:cNvPr id="19" name="clock step 4"/>
          <p:cNvSpPr/>
          <p:nvPr/>
        </p:nvSpPr>
        <p:spPr>
          <a:xfrm>
            <a:off x="9265615" y="1508760"/>
            <a:ext cx="2377440" cy="1874520"/>
          </a:xfrm>
          <a:prstGeom prst="roundRect">
            <a:avLst>
              <a:gd name="adj" fmla="val 3902"/>
            </a:avLst>
          </a:prstGeom>
          <a:solidFill>
            <a:schemeClr val="bg2"/>
          </a:solidFill>
          <a:ln w="9525">
            <a:solidFill>
              <a:schemeClr val="bg2"/>
            </a:solidFill>
            <a:prstDash val="solid"/>
          </a:ln>
        </p:spPr>
      </p:sp>
      <p:sp>
        <p:nvSpPr>
          <p:cNvPr id="20" name="clock step 4 title"/>
          <p:cNvSpPr txBox="1"/>
          <p:nvPr/>
        </p:nvSpPr>
        <p:spPr>
          <a:xfrm>
            <a:off x="9448495" y="1673352"/>
            <a:ext cx="2011680" cy="45720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Again</a:t>
            </a:r>
            <a:endParaRPr lang="en-US" sz="1900" dirty="0"/>
          </a:p>
        </p:txBody>
      </p:sp>
      <p:sp>
        <p:nvSpPr>
          <p:cNvPr id="21" name="clock step 4 body"/>
          <p:cNvSpPr txBox="1"/>
          <p:nvPr/>
        </p:nvSpPr>
        <p:spPr>
          <a:xfrm>
            <a:off x="9448495" y="2194560"/>
            <a:ext cx="2011680" cy="548640"/>
          </a:xfrm>
          <a:prstGeom prst="rect">
            <a:avLst/>
          </a:prstGeom>
          <a:noFill/>
          <a:ln/>
        </p:spPr>
        <p:txBody>
          <a:bodyPr wrap="square" lIns="0" tIns="0" rIns="0" bIns="0" rtlCol="0" anchor="t"/>
          <a:lstStyle/>
          <a:p>
            <a:pPr indent="0" marL="0">
              <a:buNone/>
            </a:pPr>
            <a:r>
              <a:rPr lang="en-US" sz="1600" b="1" dirty="0">
                <a:solidFill>
                  <a:schemeClr val="tx2"/>
                </a:solidFill>
              </a:rPr>
              <a:t>A 5, B 7 + refresh</a:t>
            </a:r>
            <a:endParaRPr lang="en-US" sz="1600" dirty="0"/>
          </a:p>
        </p:txBody>
      </p:sp>
      <p:sp>
        <p:nvSpPr>
          <p:cNvPr id="22" name="clock step 4 note"/>
          <p:cNvSpPr txBox="1"/>
          <p:nvPr/>
        </p:nvSpPr>
        <p:spPr>
          <a:xfrm>
            <a:off x="9448495" y="2743200"/>
            <a:ext cx="2011680" cy="502920"/>
          </a:xfrm>
          <a:prstGeom prst="rect">
            <a:avLst/>
          </a:prstGeom>
          <a:noFill/>
          <a:ln/>
        </p:spPr>
        <p:txBody>
          <a:bodyPr wrap="square" lIns="0" tIns="0" rIns="0" bIns="0" rtlCol="0" anchor="t"/>
          <a:lstStyle/>
          <a:p>
            <a:pPr indent="0" marL="0">
              <a:buNone/>
            </a:pPr>
            <a:r>
              <a:rPr lang="en-US" sz="1300" dirty="0">
                <a:solidFill>
                  <a:schemeClr val="tx2"/>
                </a:solidFill>
              </a:rPr>
              <a:t>step 4: 1 more callback</a:t>
            </a:r>
            <a:endParaRPr lang="en-US" sz="1300" dirty="0"/>
          </a:p>
        </p:txBody>
      </p:sp>
      <p:sp>
        <p:nvSpPr>
          <p:cNvPr id="23" name="code card"/>
          <p:cNvSpPr/>
          <p:nvPr/>
        </p:nvSpPr>
        <p:spPr>
          <a:xfrm>
            <a:off x="548640" y="3657600"/>
            <a:ext cx="7086600" cy="2514600"/>
          </a:xfrm>
          <a:prstGeom prst="roundRect">
            <a:avLst>
              <a:gd name="adj" fmla="val 2909"/>
            </a:avLst>
          </a:prstGeom>
          <a:solidFill>
            <a:srgbClr val="F4F6F8"/>
          </a:solidFill>
          <a:ln w="9525">
            <a:solidFill>
              <a:srgbClr val="D5DCE4"/>
            </a:solidFill>
            <a:prstDash val="solid"/>
          </a:ln>
        </p:spPr>
      </p:sp>
      <p:sp>
        <p:nvSpPr>
          <p:cNvPr id="24" name="code text"/>
          <p:cNvSpPr txBox="1"/>
          <p:nvPr/>
        </p:nvSpPr>
        <p:spPr>
          <a:xfrm>
            <a:off x="777240" y="3794760"/>
            <a:ext cx="6675120" cy="228600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ug  = EventDrivenUpdateGraph.newBuilder("synchronizer_clock").build()</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ctx = ExecutionContext(j_exec_ctx=</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get_exec_ctx().j_exec_ctx.withUpdateGraph(ug))</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with ctx:</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feed, pub = table_publisher("sync_feed", cols,</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update_graph=UpdateGraph(j_update_graph=ug))</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sums = feed.agg_by([agg.sum_("Qty")], by="Sym")</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    listen(sums, on_checkpoint)</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pub.add(rows)        # x3: nothing moves on its own</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ug.requestRefresh()  # our checkpoint</a:t>
            </a:r>
            <a:endParaRPr lang="en-US" sz="1100" dirty="0"/>
          </a:p>
        </p:txBody>
      </p:sp>
      <p:sp>
        <p:nvSpPr>
          <p:cNvPr id="25" name="clock benefits"/>
          <p:cNvSpPr txBox="1"/>
          <p:nvPr/>
        </p:nvSpPr>
        <p:spPr>
          <a:xfrm>
            <a:off x="8001000" y="3703320"/>
            <a:ext cx="3639312" cy="2468880"/>
          </a:xfrm>
          <a:prstGeom prst="rect">
            <a:avLst/>
          </a:prstGeom>
          <a:noFill/>
          <a:ln/>
        </p:spPr>
        <p:txBody>
          <a:bodyPr wrap="square" lIns="0" tIns="0" rIns="0" bIns="0" rtlCol="0" anchor="t"/>
          <a:lstStyle/>
          <a:p>
            <a:pPr indent="0" marL="0">
              <a:spcAft>
                <a:spcPts val="600"/>
              </a:spcAft>
              <a:buNone/>
            </a:pPr>
            <a:r>
              <a:rPr lang="en-US" sz="1800" b="1" dirty="0">
                <a:solidFill>
                  <a:schemeClr val="tx2"/>
                </a:solidFill>
              </a:rPr>
              <a:t>What it buys a framework</a:t>
            </a:r>
            <a:endParaRPr lang="en-US" sz="1500" dirty="0"/>
          </a:p>
          <a:p>
            <a:pPr marL="342900" indent="-342900">
              <a:spcAft>
                <a:spcPts val="600"/>
              </a:spcAft>
              <a:buSzPct val="100000"/>
              <a:buChar char="•"/>
            </a:pPr>
            <a:r>
              <a:rPr lang="en-US" sz="1500" dirty="0">
                <a:solidFill>
                  <a:schemeClr val="tx1"/>
                </a:solidFill>
              </a:rPr>
              <a:t>Checkpoints on our cadence, not a fixed second</a:t>
            </a:r>
            <a:endParaRPr lang="en-US" sz="1500" dirty="0"/>
          </a:p>
          <a:p>
            <a:pPr marL="342900" indent="-342900">
              <a:spcAft>
                <a:spcPts val="600"/>
              </a:spcAft>
              <a:buSzPct val="100000"/>
              <a:buChar char="•"/>
            </a:pPr>
            <a:r>
              <a:rPr lang="en-US" sz="1500" dirty="0">
                <a:solidFill>
                  <a:schemeClr val="tx1"/>
                </a:solidFill>
              </a:rPr>
              <a:t>Engine-consistent joins and aggregations at each one</a:t>
            </a:r>
            <a:endParaRPr lang="en-US" sz="1500" dirty="0"/>
          </a:p>
          <a:p>
            <a:pPr marL="342900" indent="-342900">
              <a:spcAft>
                <a:spcPts val="600"/>
              </a:spcAft>
              <a:buSzPct val="100000"/>
              <a:buChar char="•"/>
            </a:pPr>
            <a:r>
              <a:rPr lang="en-US" sz="1500" dirty="0">
                <a:solidFill>
                  <a:schemeClr val="tx1"/>
                </a:solidFill>
              </a:rPr>
              <a:t>Listeners that fire exactly once per checkpoint</a:t>
            </a:r>
            <a:endParaRPr lang="en-US" sz="1500" dirty="0"/>
          </a:p>
          <a:p>
            <a:pPr indent="0" marL="0">
              <a:spcAft>
                <a:spcPts val="600"/>
              </a:spcAft>
              <a:buNone/>
            </a:pPr>
            <a:r>
              <a:rPr lang="en-US" sz="1300" i="1" dirty="0">
                <a:solidFill>
                  <a:schemeClr val="accent5"/>
                </a:solidFill>
              </a:rPr>
              <a:t>Tested on Community 42.6; whether PQs allow it is a vendor question</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Threads: only some carry a real execution context</a:t>
            </a:r>
            <a:endParaRPr lang="en-US" sz="3000" dirty="0"/>
          </a:p>
        </p:txBody>
      </p:sp>
      <p:graphicFrame>
        <p:nvGraphicFramePr>
          <p:cNvPr id="14" name="thread table"/>
          <p:cNvGraphicFramePr>
            <a:graphicFrameLocks noGrp="1"/>
          </p:cNvGraphicFramePr>
          <p:nvPr>
            <p:extLst>
              <p:ext uri="{D42A27DB-BD31-4B8C-83A1-F6EECF244321}">
                <p14:modId xmlns:p14="http://schemas.microsoft.com/office/powerpoint/2010/main" val="1579011935"/>
              </p:ext>
            </p:extLst>
          </p:nvPr>
        </p:nvGraphicFramePr>
        <p:xfrm>
          <a:off x="548640" y="1417320"/>
          <a:ext cx="7223760" cy="914400"/>
        </p:xfrm>
        <a:graphic>
          <a:graphicData uri="http://schemas.openxmlformats.org/drawingml/2006/table">
            <a:tbl>
              <a:tblPr/>
              <a:tblGrid>
                <a:gridCol w="2331720"/>
                <a:gridCol w="2606040"/>
                <a:gridCol w="228600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Thread</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F3D5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Runs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F3D5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Execution context</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F3D5E"/>
                    </a:solidFill>
                  </a:tcPr>
                </a:tc>
              </a:tr>
              <a:tr h="50292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Thread that starts the server</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startup, application-mode scripts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real (systemic)</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50292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Script session (serial)</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console and run_script commands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real (systemic)</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50292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Update threads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cycles, propagation, our listeners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engine</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50292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Server executors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submit_task work on JVM threads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server</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502920">
                <a:tc>
                  <a:txBody>
                    <a:bodyPr/>
                    <a:lstStyle/>
                    <a:p>
                      <a:pPr indent="0" marL="0">
                        <a:buNone/>
                      </a:pPr>
                      <a:r>
                        <a:rPr lang="en-US" sz="1300" b="1" dirty="0">
                          <a:solidFill>
                            <a:srgbClr val="E8743B"/>
                          </a:solidFill>
                          <a:latin typeface="Calibri" pitchFamily="34" charset="0"/>
                          <a:ea typeface="Calibri" pitchFamily="34" charset="-122"/>
                          <a:cs typeface="Calibri" pitchFamily="34" charset="-120"/>
                        </a:rPr>
                        <a:t>Our threads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feeds, timers, an asyncio loop</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b="1" dirty="0">
                          <a:solidFill>
                            <a:srgbClr val="E8743B"/>
                          </a:solidFill>
                          <a:latin typeface="Calibri" pitchFamily="34" charset="0"/>
                          <a:ea typeface="Calibri" pitchFamily="34" charset="-122"/>
                          <a:cs typeface="Calibri" pitchFamily="34" charset="-120"/>
                        </a:rPr>
                        <a:t>static-only until we pass one in</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50292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Our subprocesses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anything</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none: client access only</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bl>
          </a:graphicData>
        </a:graphic>
      </p:graphicFrame>
      <p:sp>
        <p:nvSpPr>
          <p:cNvPr id="5" name="context warning"/>
          <p:cNvSpPr/>
          <p:nvPr/>
        </p:nvSpPr>
        <p:spPr>
          <a:xfrm>
            <a:off x="8092440" y="1417320"/>
            <a:ext cx="3547872" cy="3520440"/>
          </a:xfrm>
          <a:prstGeom prst="roundRect">
            <a:avLst>
              <a:gd name="adj" fmla="val 2078"/>
            </a:avLst>
          </a:prstGeom>
          <a:solidFill>
            <a:srgbClr val="FBF3E2"/>
          </a:solidFill>
          <a:ln w="15875">
            <a:solidFill>
              <a:srgbClr val="E0A526"/>
            </a:solidFill>
            <a:prstDash val="solid"/>
          </a:ln>
        </p:spPr>
      </p:sp>
      <p:sp>
        <p:nvSpPr>
          <p:cNvPr id="6" name="context warning circle"/>
          <p:cNvSpPr/>
          <p:nvPr/>
        </p:nvSpPr>
        <p:spPr>
          <a:xfrm>
            <a:off x="8321040" y="1600200"/>
            <a:ext cx="548640" cy="548640"/>
          </a:xfrm>
          <a:prstGeom prst="ellipse">
            <a:avLst/>
          </a:prstGeom>
          <a:solidFill>
            <a:schemeClr val="accent4"/>
          </a:solidFill>
          <a:ln w="12700">
            <a:solidFill>
              <a:schemeClr val="accent4"/>
            </a:solidFill>
            <a:prstDash val="solid"/>
          </a:ln>
        </p:spPr>
      </p:sp>
      <p:pic>
        <p:nvPicPr>
          <p:cNvPr id="7" name="context warning icon" descr="context warning icon">    </p:cNvPr>
          <p:cNvPicPr>
            <a:picLocks noChangeAspect="1"/>
          </p:cNvPicPr>
          <p:nvPr/>
        </p:nvPicPr>
        <p:blipFill>
          <a:blip r:embed="rId1"/>
          <a:stretch>
            <a:fillRect/>
          </a:stretch>
        </p:blipFill>
        <p:spPr>
          <a:xfrm>
            <a:off x="8458200" y="1737360"/>
            <a:ext cx="274320" cy="274320"/>
          </a:xfrm>
          <a:prstGeom prst="rect">
            <a:avLst/>
          </a:prstGeom>
        </p:spPr>
      </p:pic>
      <p:sp>
        <p:nvSpPr>
          <p:cNvPr id="8" name="context warning text"/>
          <p:cNvSpPr txBox="1"/>
          <p:nvPr/>
        </p:nvSpPr>
        <p:spPr>
          <a:xfrm>
            <a:off x="8321040" y="2240280"/>
            <a:ext cx="3108960" cy="2606040"/>
          </a:xfrm>
          <a:prstGeom prst="rect">
            <a:avLst/>
          </a:prstGeom>
          <a:noFill/>
          <a:ln/>
        </p:spPr>
        <p:txBody>
          <a:bodyPr wrap="square" lIns="0" tIns="0" rIns="0" bIns="0" rtlCol="0" anchor="t"/>
          <a:lstStyle/>
          <a:p>
            <a:pPr indent="0" marL="0">
              <a:buNone/>
            </a:pPr>
            <a:r>
              <a:rPr lang="en-US" sz="1700" b="1" dirty="0">
                <a:solidFill>
                  <a:schemeClr val="tx2"/>
                </a:solidFill>
              </a:rPr>
              <a:t>Measured</a:t>
            </a:r>
            <a:endParaRPr lang="en-US" sz="1500" dirty="0"/>
          </a:p>
          <a:p>
            <a:pPr indent="0" marL="0">
              <a:buNone/>
            </a:pPr>
            <a:r>
              <a:rPr lang="en-US" sz="1500" dirty="0">
                <a:solidFill>
                  <a:schemeClr val="tx1"/>
                </a:solidFill>
              </a:rPr>
              <a:t>get_exec_ctx() on the host's main thread → static-only → UpdateGraphConflictException</a:t>
            </a:r>
            <a:endParaRPr lang="en-US" sz="1500" dirty="0"/>
          </a:p>
          <a:p>
            <a:pPr indent="0" marL="0">
              <a:buNone/>
            </a:pPr>
            <a:r>
              <a:rPr lang="en-US" sz="600" dirty="0">
                <a:solidFill>
                  <a:schemeClr val="tx1"/>
                </a:solidFill>
              </a:rPr>
              <a:t> </a:t>
            </a:r>
            <a:endParaRPr lang="en-US" sz="1500" dirty="0"/>
          </a:p>
          <a:p>
            <a:pPr indent="0" marL="0">
              <a:buNone/>
            </a:pPr>
            <a:r>
              <a:rPr lang="en-US" sz="1700" b="1" dirty="0">
                <a:solidFill>
                  <a:schemeClr val="tx2"/>
                </a:solidFill>
              </a:rPr>
              <a:t>Fix</a:t>
            </a:r>
            <a:endParaRPr lang="en-US" sz="1500" dirty="0"/>
          </a:p>
          <a:p>
            <a:pPr indent="0" marL="0">
              <a:buNone/>
            </a:pPr>
            <a:r>
              <a:rPr lang="en-US" sz="1500" dirty="0">
                <a:solidFill>
                  <a:schemeClr val="tx1"/>
                </a:solidFill>
              </a:rPr>
              <a:t>Capture the context where it is real (inside run_script, or on the server's thread), pass it in, and enter it with </a:t>
            </a:r>
            <a:pPr indent="0" marL="0">
              <a:buNone/>
            </a:pPr>
            <a:r>
              <a:rPr lang="en-US" sz="1500" dirty="0">
                <a:solidFill>
                  <a:schemeClr val="tx1"/>
                </a:solidFill>
                <a:latin typeface="Courier New" pitchFamily="34" charset="0"/>
                <a:ea typeface="Courier New" pitchFamily="34" charset="-122"/>
                <a:cs typeface="Courier New" pitchFamily="34" charset="-120"/>
              </a:rPr>
              <a:t>with ctx: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Python listeners are the costliest nodes in the graph</a:t>
            </a:r>
            <a:endParaRPr lang="en-US" sz="3000" dirty="0"/>
          </a:p>
        </p:txBody>
      </p:sp>
      <p:graphicFrame>
        <p:nvGraphicFramePr>
          <p:cNvPr id="4" name="cost chart" descr=""/>
          <p:cNvGraphicFramePr/>
          <p:nvPr/>
        </p:nvGraphicFramePr>
        <p:xfrm>
          <a:off x="548640" y="1325880"/>
          <a:ext cx="7680960" cy="4846320"/>
        </p:xfrm>
        <a:graphic xmlns:a="http://schemas.openxmlformats.org/drawingml/2006/main">
          <a:graphicData uri="http://schemas.openxmlformats.org/drawingml/2006/chart">
            <c:chart xmlns:c="http://schemas.openxmlformats.org/drawingml/2006/chart" r:id="rId1"/>
          </a:graphicData>
        </a:graphic>
      </p:graphicFrame>
      <p:sp>
        <p:nvSpPr>
          <p:cNvPr id="5" name="python cost value"/>
          <p:cNvSpPr txBox="1"/>
          <p:nvPr/>
        </p:nvSpPr>
        <p:spPr>
          <a:xfrm>
            <a:off x="8595360" y="1600200"/>
            <a:ext cx="3017520" cy="640080"/>
          </a:xfrm>
          <a:prstGeom prst="rect">
            <a:avLst/>
          </a:prstGeom>
          <a:noFill/>
          <a:ln/>
        </p:spPr>
        <p:txBody>
          <a:bodyPr wrap="square" lIns="0" tIns="0" rIns="0" bIns="0" rtlCol="0" anchor="b"/>
          <a:lstStyle/>
          <a:p>
            <a:pPr indent="0" marL="0">
              <a:buNone/>
            </a:pPr>
            <a:r>
              <a:rPr lang="en-US" sz="3600" b="1" dirty="0">
                <a:solidFill>
                  <a:schemeClr val="accent2"/>
                </a:solidFill>
                <a:latin typeface="Cambria" pitchFamily="34" charset="0"/>
                <a:ea typeface="Cambria" pitchFamily="34" charset="-122"/>
                <a:cs typeface="Cambria" pitchFamily="34" charset="-120"/>
              </a:rPr>
              <a:t>~195 ms</a:t>
            </a:r>
            <a:endParaRPr lang="en-US" sz="3600" dirty="0"/>
          </a:p>
        </p:txBody>
      </p:sp>
      <p:sp>
        <p:nvSpPr>
          <p:cNvPr id="6" name="python cost label"/>
          <p:cNvSpPr txBox="1"/>
          <p:nvPr/>
        </p:nvSpPr>
        <p:spPr>
          <a:xfrm>
            <a:off x="8595360" y="2286000"/>
            <a:ext cx="3017520" cy="548640"/>
          </a:xfrm>
          <a:prstGeom prst="rect">
            <a:avLst/>
          </a:prstGeom>
          <a:noFill/>
          <a:ln/>
        </p:spPr>
        <p:txBody>
          <a:bodyPr wrap="square" lIns="0" tIns="0" rIns="0" bIns="0" rtlCol="0" anchor="t"/>
          <a:lstStyle/>
          <a:p>
            <a:pPr indent="0" marL="0">
              <a:buNone/>
            </a:pPr>
            <a:r>
              <a:rPr lang="en-US" sz="1400" dirty="0">
                <a:solidFill>
                  <a:schemeClr val="tx1"/>
                </a:solidFill>
              </a:rPr>
              <a:t>per interval for each Python listener</a:t>
            </a:r>
            <a:endParaRPr lang="en-US" sz="1400" dirty="0"/>
          </a:p>
        </p:txBody>
      </p:sp>
      <p:sp>
        <p:nvSpPr>
          <p:cNvPr id="7" name="java cost value"/>
          <p:cNvSpPr txBox="1"/>
          <p:nvPr/>
        </p:nvSpPr>
        <p:spPr>
          <a:xfrm>
            <a:off x="8595360" y="3154680"/>
            <a:ext cx="3017520" cy="64008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3–36 ms</a:t>
            </a:r>
            <a:endParaRPr lang="en-US" sz="3600" dirty="0"/>
          </a:p>
        </p:txBody>
      </p:sp>
      <p:sp>
        <p:nvSpPr>
          <p:cNvPr id="8" name="java cost label"/>
          <p:cNvSpPr txBox="1"/>
          <p:nvPr/>
        </p:nvSpPr>
        <p:spPr>
          <a:xfrm>
            <a:off x="8595360" y="3840480"/>
            <a:ext cx="3017520" cy="731520"/>
          </a:xfrm>
          <a:prstGeom prst="rect">
            <a:avLst/>
          </a:prstGeom>
          <a:noFill/>
          <a:ln/>
        </p:spPr>
        <p:txBody>
          <a:bodyPr wrap="square" lIns="0" tIns="0" rIns="0" bIns="0" rtlCol="0" anchor="t"/>
          <a:lstStyle/>
          <a:p>
            <a:pPr indent="0" marL="0">
              <a:buNone/>
            </a:pPr>
            <a:r>
              <a:rPr lang="en-US" sz="1400" dirty="0">
                <a:solidFill>
                  <a:schemeClr val="tx1"/>
                </a:solidFill>
              </a:rPr>
              <a:t>for most Java operations; 80 ms for rolling update_by</a:t>
            </a:r>
            <a:endParaRPr lang="en-US" sz="1400" dirty="0"/>
          </a:p>
        </p:txBody>
      </p:sp>
      <p:sp>
        <p:nvSpPr>
          <p:cNvPr id="9" name="cost note"/>
          <p:cNvSpPr txBox="1"/>
          <p:nvPr/>
        </p:nvSpPr>
        <p:spPr>
          <a:xfrm>
            <a:off x="8595360" y="4846320"/>
            <a:ext cx="3017520" cy="1280160"/>
          </a:xfrm>
          <a:prstGeom prst="rect">
            <a:avLst/>
          </a:prstGeom>
          <a:noFill/>
          <a:ln/>
        </p:spPr>
        <p:txBody>
          <a:bodyPr wrap="square" lIns="0" tIns="0" rIns="0" bIns="0" rtlCol="0" anchor="t"/>
          <a:lstStyle/>
          <a:p>
            <a:pPr indent="0" marL="0">
              <a:buNone/>
            </a:pPr>
            <a:r>
              <a:rPr lang="en-US" sz="1400" i="1" dirty="0">
                <a:solidFill>
                  <a:schemeClr val="accent5"/>
                </a:solidFill>
              </a:rPr>
              <a:t>Python in a listener holds the GIL on the update thread, so its cost lands on every table in that cycle.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Lifecycle bugs fail silently in a long-lived worker</a:t>
            </a:r>
            <a:endParaRPr lang="en-US" sz="3000" dirty="0"/>
          </a:p>
        </p:txBody>
      </p:sp>
      <p:sp>
        <p:nvSpPr>
          <p:cNvPr id="4" name="pitfall 1 circle"/>
          <p:cNvSpPr/>
          <p:nvPr/>
        </p:nvSpPr>
        <p:spPr>
          <a:xfrm>
            <a:off x="548640" y="1417320"/>
            <a:ext cx="685800" cy="685800"/>
          </a:xfrm>
          <a:prstGeom prst="ellipse">
            <a:avLst/>
          </a:prstGeom>
          <a:solidFill>
            <a:schemeClr val="accent4"/>
          </a:solidFill>
          <a:ln w="12700">
            <a:solidFill>
              <a:schemeClr val="accent4"/>
            </a:solidFill>
            <a:prstDash val="solid"/>
          </a:ln>
        </p:spPr>
      </p:sp>
      <p:pic>
        <p:nvPicPr>
          <p:cNvPr id="5" name="pitfall 1 icon" descr="pitfall 1 icon">    </p:cNvPr>
          <p:cNvPicPr>
            <a:picLocks noChangeAspect="1"/>
          </p:cNvPicPr>
          <p:nvPr/>
        </p:nvPicPr>
        <p:blipFill>
          <a:blip r:embed="rId1"/>
          <a:stretch>
            <a:fillRect/>
          </a:stretch>
        </p:blipFill>
        <p:spPr>
          <a:xfrm>
            <a:off x="720090" y="1588770"/>
            <a:ext cx="342900" cy="342900"/>
          </a:xfrm>
          <a:prstGeom prst="rect">
            <a:avLst/>
          </a:prstGeom>
        </p:spPr>
      </p:pic>
      <p:sp>
        <p:nvSpPr>
          <p:cNvPr id="6" name="pitfall 1 title"/>
          <p:cNvSpPr txBox="1"/>
          <p:nvPr/>
        </p:nvSpPr>
        <p:spPr>
          <a:xfrm>
            <a:off x="1508760" y="1371600"/>
            <a:ext cx="9966960" cy="411480"/>
          </a:xfrm>
          <a:prstGeom prst="rect">
            <a:avLst/>
          </a:prstGeom>
          <a:noFill/>
          <a:ln/>
        </p:spPr>
        <p:txBody>
          <a:bodyPr wrap="square" lIns="0" tIns="0" rIns="0" bIns="0" rtlCol="0" anchor="t"/>
          <a:lstStyle/>
          <a:p>
            <a:pPr indent="0" marL="0">
              <a:buNone/>
            </a:pPr>
            <a:r>
              <a:rPr lang="en-US" sz="1900" b="1" dirty="0">
                <a:solidFill>
                  <a:schemeClr val="tx2"/>
                </a:solidFill>
              </a:rPr>
              <a:t>A listener that throws stops for good</a:t>
            </a:r>
            <a:endParaRPr lang="en-US" sz="1900" dirty="0"/>
          </a:p>
        </p:txBody>
      </p:sp>
      <p:sp>
        <p:nvSpPr>
          <p:cNvPr id="7" name="pitfall 1 body"/>
          <p:cNvSpPr txBox="1"/>
          <p:nvPr/>
        </p:nvSpPr>
        <p:spPr>
          <a:xfrm>
            <a:off x="1508760" y="1783080"/>
            <a:ext cx="9966960" cy="685800"/>
          </a:xfrm>
          <a:prstGeom prst="rect">
            <a:avLst/>
          </a:prstGeom>
          <a:noFill/>
          <a:ln/>
        </p:spPr>
        <p:txBody>
          <a:bodyPr wrap="square" lIns="0" tIns="0" rIns="0" bIns="0" rtlCol="0" anchor="t"/>
          <a:lstStyle/>
          <a:p>
            <a:pPr indent="0" marL="0">
              <a:buNone/>
            </a:pPr>
            <a:r>
              <a:rPr lang="en-US" sz="1500" dirty="0">
                <a:solidFill>
                  <a:schemeClr val="tx1"/>
                </a:solidFill>
              </a:rPr>
              <a:t>One traceback, then silence; feeds keep flowing and the worker looks healthy. Wrap every hook and record failures.</a:t>
            </a:r>
            <a:endParaRPr lang="en-US" sz="1500" dirty="0"/>
          </a:p>
        </p:txBody>
      </p:sp>
      <p:sp>
        <p:nvSpPr>
          <p:cNvPr id="8" name="pitfall 2 circle"/>
          <p:cNvSpPr/>
          <p:nvPr/>
        </p:nvSpPr>
        <p:spPr>
          <a:xfrm>
            <a:off x="548640" y="2633472"/>
            <a:ext cx="685800" cy="685800"/>
          </a:xfrm>
          <a:prstGeom prst="ellipse">
            <a:avLst/>
          </a:prstGeom>
          <a:solidFill>
            <a:schemeClr val="accent1"/>
          </a:solidFill>
          <a:ln w="12700">
            <a:solidFill>
              <a:schemeClr val="accent1"/>
            </a:solidFill>
            <a:prstDash val="solid"/>
          </a:ln>
        </p:spPr>
      </p:sp>
      <p:pic>
        <p:nvPicPr>
          <p:cNvPr id="9" name="pitfall 2 icon" descr="pitfall 2 icon">    </p:cNvPr>
          <p:cNvPicPr>
            <a:picLocks noChangeAspect="1"/>
          </p:cNvPicPr>
          <p:nvPr/>
        </p:nvPicPr>
        <p:blipFill>
          <a:blip r:embed="rId2"/>
          <a:stretch>
            <a:fillRect/>
          </a:stretch>
        </p:blipFill>
        <p:spPr>
          <a:xfrm>
            <a:off x="720090" y="2804922"/>
            <a:ext cx="342900" cy="342900"/>
          </a:xfrm>
          <a:prstGeom prst="rect">
            <a:avLst/>
          </a:prstGeom>
        </p:spPr>
      </p:pic>
      <p:sp>
        <p:nvSpPr>
          <p:cNvPr id="10" name="pitfall 2 title"/>
          <p:cNvSpPr txBox="1"/>
          <p:nvPr/>
        </p:nvSpPr>
        <p:spPr>
          <a:xfrm>
            <a:off x="1508760" y="2587752"/>
            <a:ext cx="9966960" cy="411480"/>
          </a:xfrm>
          <a:prstGeom prst="rect">
            <a:avLst/>
          </a:prstGeom>
          <a:noFill/>
          <a:ln/>
        </p:spPr>
        <p:txBody>
          <a:bodyPr wrap="square" lIns="0" tIns="0" rIns="0" bIns="0" rtlCol="0" anchor="t"/>
          <a:lstStyle/>
          <a:p>
            <a:pPr indent="0" marL="0">
              <a:buNone/>
            </a:pPr>
            <a:r>
              <a:rPr lang="en-US" sz="1900" b="1" dirty="0">
                <a:solidFill>
                  <a:schemeClr val="tx2"/>
                </a:solidFill>
              </a:rPr>
              <a:t>Re-running setup stacks listeners</a:t>
            </a:r>
            <a:endParaRPr lang="en-US" sz="1900" dirty="0"/>
          </a:p>
        </p:txBody>
      </p:sp>
      <p:sp>
        <p:nvSpPr>
          <p:cNvPr id="11" name="pitfall 2 body"/>
          <p:cNvSpPr txBox="1"/>
          <p:nvPr/>
        </p:nvSpPr>
        <p:spPr>
          <a:xfrm>
            <a:off x="1508760" y="2999232"/>
            <a:ext cx="9966960" cy="685800"/>
          </a:xfrm>
          <a:prstGeom prst="rect">
            <a:avLst/>
          </a:prstGeom>
          <a:noFill/>
          <a:ln/>
        </p:spPr>
        <p:txBody>
          <a:bodyPr wrap="square" lIns="0" tIns="0" rIns="0" bIns="0" rtlCol="0" anchor="t"/>
          <a:lstStyle/>
          <a:p>
            <a:pPr indent="0" marL="0">
              <a:buNone/>
            </a:pPr>
            <a:r>
              <a:rPr lang="en-US" sz="1500" dirty="0">
                <a:solidFill>
                  <a:schemeClr val="tx1"/>
                </a:solidFill>
              </a:rPr>
              <a:t>Rebinding the handle does not stop the old one; outputs were written twice. Stop the previous handle first.</a:t>
            </a:r>
            <a:endParaRPr lang="en-US" sz="1500" dirty="0"/>
          </a:p>
        </p:txBody>
      </p:sp>
      <p:sp>
        <p:nvSpPr>
          <p:cNvPr id="12" name="pitfall 3 circle"/>
          <p:cNvSpPr/>
          <p:nvPr/>
        </p:nvSpPr>
        <p:spPr>
          <a:xfrm>
            <a:off x="548640" y="3849624"/>
            <a:ext cx="685800" cy="685800"/>
          </a:xfrm>
          <a:prstGeom prst="ellipse">
            <a:avLst/>
          </a:prstGeom>
          <a:solidFill>
            <a:schemeClr val="accent6"/>
          </a:solidFill>
          <a:ln w="12700">
            <a:solidFill>
              <a:schemeClr val="accent6"/>
            </a:solidFill>
            <a:prstDash val="solid"/>
          </a:ln>
        </p:spPr>
      </p:sp>
      <p:pic>
        <p:nvPicPr>
          <p:cNvPr id="13" name="pitfall 3 icon" descr="pitfall 3 icon">    </p:cNvPr>
          <p:cNvPicPr>
            <a:picLocks noChangeAspect="1"/>
          </p:cNvPicPr>
          <p:nvPr/>
        </p:nvPicPr>
        <p:blipFill>
          <a:blip r:embed="rId3"/>
          <a:stretch>
            <a:fillRect/>
          </a:stretch>
        </p:blipFill>
        <p:spPr>
          <a:xfrm>
            <a:off x="720090" y="4021074"/>
            <a:ext cx="342900" cy="342900"/>
          </a:xfrm>
          <a:prstGeom prst="rect">
            <a:avLst/>
          </a:prstGeom>
        </p:spPr>
      </p:pic>
      <p:sp>
        <p:nvSpPr>
          <p:cNvPr id="14" name="pitfall 3 title"/>
          <p:cNvSpPr txBox="1"/>
          <p:nvPr/>
        </p:nvSpPr>
        <p:spPr>
          <a:xfrm>
            <a:off x="1508760" y="3803904"/>
            <a:ext cx="9966960" cy="411480"/>
          </a:xfrm>
          <a:prstGeom prst="rect">
            <a:avLst/>
          </a:prstGeom>
          <a:noFill/>
          <a:ln/>
        </p:spPr>
        <p:txBody>
          <a:bodyPr wrap="square" lIns="0" tIns="0" rIns="0" bIns="0" rtlCol="0" anchor="t"/>
          <a:lstStyle/>
          <a:p>
            <a:pPr indent="0" marL="0">
              <a:buNone/>
            </a:pPr>
            <a:r>
              <a:rPr lang="en-US" sz="1900" b="1" dirty="0">
                <a:solidFill>
                  <a:schemeClr val="tx2"/>
                </a:solidFill>
              </a:rPr>
              <a:t>Leaked tasks outlive their code</a:t>
            </a:r>
            <a:endParaRPr lang="en-US" sz="1900" dirty="0"/>
          </a:p>
        </p:txBody>
      </p:sp>
      <p:sp>
        <p:nvSpPr>
          <p:cNvPr id="15" name="pitfall 3 body"/>
          <p:cNvSpPr txBox="1"/>
          <p:nvPr/>
        </p:nvSpPr>
        <p:spPr>
          <a:xfrm>
            <a:off x="1508760" y="4215384"/>
            <a:ext cx="9966960" cy="685800"/>
          </a:xfrm>
          <a:prstGeom prst="rect">
            <a:avLst/>
          </a:prstGeom>
          <a:noFill/>
          <a:ln/>
        </p:spPr>
        <p:txBody>
          <a:bodyPr wrap="square" lIns="0" tIns="0" rIns="0" bIns="0" rtlCol="0" anchor="t"/>
          <a:lstStyle/>
          <a:p>
            <a:pPr indent="0" marL="0">
              <a:buNone/>
            </a:pPr>
            <a:r>
              <a:rPr lang="en-US" sz="1500" dirty="0">
                <a:solidFill>
                  <a:schemeClr val="tx1"/>
                </a:solidFill>
              </a:rPr>
              <a:t>Old asyncio loops read the next run's stop flag from a global and ran forever. Pass lifecycle objects in explicitly.</a:t>
            </a:r>
            <a:endParaRPr lang="en-US" sz="1500" dirty="0"/>
          </a:p>
        </p:txBody>
      </p:sp>
      <p:sp>
        <p:nvSpPr>
          <p:cNvPr id="16" name="pitfall 4 circle"/>
          <p:cNvSpPr/>
          <p:nvPr/>
        </p:nvSpPr>
        <p:spPr>
          <a:xfrm>
            <a:off x="548640" y="5065776"/>
            <a:ext cx="685800" cy="685800"/>
          </a:xfrm>
          <a:prstGeom prst="ellipse">
            <a:avLst/>
          </a:prstGeom>
          <a:solidFill>
            <a:schemeClr val="accent2"/>
          </a:solidFill>
          <a:ln w="12700">
            <a:solidFill>
              <a:schemeClr val="accent2"/>
            </a:solidFill>
            <a:prstDash val="solid"/>
          </a:ln>
        </p:spPr>
      </p:sp>
      <p:pic>
        <p:nvPicPr>
          <p:cNvPr id="17" name="pitfall 4 icon" descr="pitfall 4 icon">    </p:cNvPr>
          <p:cNvPicPr>
            <a:picLocks noChangeAspect="1"/>
          </p:cNvPicPr>
          <p:nvPr/>
        </p:nvPicPr>
        <p:blipFill>
          <a:blip r:embed="rId4"/>
          <a:stretch>
            <a:fillRect/>
          </a:stretch>
        </p:blipFill>
        <p:spPr>
          <a:xfrm>
            <a:off x="720090" y="5237226"/>
            <a:ext cx="342900" cy="342900"/>
          </a:xfrm>
          <a:prstGeom prst="rect">
            <a:avLst/>
          </a:prstGeom>
        </p:spPr>
      </p:pic>
      <p:sp>
        <p:nvSpPr>
          <p:cNvPr id="18" name="pitfall 4 title"/>
          <p:cNvSpPr txBox="1"/>
          <p:nvPr/>
        </p:nvSpPr>
        <p:spPr>
          <a:xfrm>
            <a:off x="1508760" y="5020056"/>
            <a:ext cx="9966960" cy="411480"/>
          </a:xfrm>
          <a:prstGeom prst="rect">
            <a:avLst/>
          </a:prstGeom>
          <a:noFill/>
          <a:ln/>
        </p:spPr>
        <p:txBody>
          <a:bodyPr wrap="square" lIns="0" tIns="0" rIns="0" bIns="0" rtlCol="0" anchor="t"/>
          <a:lstStyle/>
          <a:p>
            <a:pPr indent="0" marL="0">
              <a:buNone/>
            </a:pPr>
            <a:r>
              <a:rPr lang="en-US" sz="1900" b="1" dirty="0">
                <a:solidFill>
                  <a:schemeClr val="tx2"/>
                </a:solidFill>
              </a:rPr>
              <a:t>Shutdown is a hard stop</a:t>
            </a:r>
            <a:endParaRPr lang="en-US" sz="1900" dirty="0"/>
          </a:p>
        </p:txBody>
      </p:sp>
      <p:sp>
        <p:nvSpPr>
          <p:cNvPr id="19" name="pitfall 4 body"/>
          <p:cNvSpPr txBox="1"/>
          <p:nvPr/>
        </p:nvSpPr>
        <p:spPr>
          <a:xfrm>
            <a:off x="1508760" y="5431536"/>
            <a:ext cx="9966960" cy="685800"/>
          </a:xfrm>
          <a:prstGeom prst="rect">
            <a:avLst/>
          </a:prstGeom>
          <a:noFill/>
          <a:ln/>
        </p:spPr>
        <p:txBody>
          <a:bodyPr wrap="square" lIns="0" tIns="0" rIns="0" bIns="0" rtlCol="0" anchor="t"/>
          <a:lstStyle/>
          <a:p>
            <a:pPr indent="0" marL="0">
              <a:buNone/>
            </a:pPr>
            <a:r>
              <a:rPr lang="en-US" sz="1500" dirty="0">
                <a:solidFill>
                  <a:schemeClr val="tx1"/>
                </a:solidFill>
              </a:rPr>
              <a:t>No Python shutdown hook; on Windows terminate() killed the server with exit 1. Flush and clean up on request, before stopping.</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10698480" cy="1097280"/>
          </a:xfrm>
          <a:prstGeom prst="rect">
            <a:avLst/>
          </a:prstGeom>
          <a:noFill/>
          <a:ln/>
        </p:spPr>
        <p:txBody>
          <a:bodyPr wrap="square" lIns="0" tIns="0" rIns="0" bIns="0" rtlCol="0" anchor="b"/>
          <a:lstStyle/>
          <a:p>
            <a:pPr algn="l" indent="0" marL="0">
              <a:buNone/>
            </a:pPr>
            <a:r>
              <a:rPr lang="en-US" sz="4000" b="1" dirty="0">
                <a:solidFill>
                  <a:schemeClr val="bg1"/>
                </a:solidFill>
              </a:rPr>
              <a:t>3   Hosting and placement</a:t>
            </a:r>
            <a:endParaRPr lang="en-US" sz="4000" dirty="0"/>
          </a:p>
        </p:txBody>
      </p:sp>
      <p:sp>
        <p:nvSpPr>
          <p:cNvPr id="3" name="Text 0"/>
          <p:cNvSpPr/>
          <p:nvPr>
            <p:ph idx="101" type="body" hasCustomPrompt="1"/>
          </p:nvPr>
        </p:nvSpPr>
        <p:spPr>
          <a:xfrm>
            <a:off x="731520" y="3611880"/>
            <a:ext cx="10241280" cy="822960"/>
          </a:xfrm>
          <a:prstGeom prst="rect">
            <a:avLst/>
          </a:prstGeom>
          <a:noFill/>
          <a:ln/>
        </p:spPr>
        <p:txBody>
          <a:bodyPr wrap="square" lIns="0" tIns="0" rIns="0" bIns="0" rtlCol="0" anchor="t"/>
          <a:lstStyle/>
          <a:p>
            <a:pPr indent="0" marL="0">
              <a:buNone/>
            </a:pPr>
            <a:r>
              <a:rPr lang="en-US" sz="2000" dirty="0">
                <a:solidFill>
                  <a:schemeClr val="bg2"/>
                </a:solidFill>
              </a:rPr>
              <a:t>Where our framework and Deephaven each run, and what every choice costs</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Three ways to combine our framework with Deephaven</a:t>
            </a:r>
            <a:endParaRPr lang="en-US" sz="3000" dirty="0"/>
          </a:p>
        </p:txBody>
      </p:sp>
      <p:graphicFrame>
        <p:nvGraphicFramePr>
          <p:cNvPr id="18" name="hosting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1680"/>
                <a:gridCol w="3026664"/>
                <a:gridCol w="3026664"/>
                <a:gridCol w="3026664"/>
              </a:tblGrid>
              <a:tr h="530352">
                <a:tc>
                  <a:txBody>
                    <a:bodyPr/>
                    <a:lstStyle/>
                    <a:p>
                      <a:pPr indent="0" marL="0">
                        <a:buNone/>
                      </a:pP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F3D5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Framework inside a worker</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F3D5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Deephaven on a thread of ours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F3D5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Deephaven as a subprocess or service</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F3D5E"/>
                    </a:solidFill>
                  </a:tcPr>
                </a:tc>
              </a:tr>
              <a:tr h="530352">
                <a:tc>
                  <a:txBody>
                    <a:bodyPr/>
                    <a:lstStyle/>
                    <a:p>
                      <a:pPr indent="0" marL="0">
                        <a:buNone/>
                      </a:pPr>
                      <a:r>
                        <a:rPr lang="en-US" sz="1300" b="1" dirty="0">
                          <a:solidFill>
                            <a:srgbClr val="17212B"/>
                          </a:solidFill>
                          <a:latin typeface="Calibri" pitchFamily="34" charset="0"/>
                          <a:ea typeface="Calibri" pitchFamily="34" charset="-122"/>
                          <a:cs typeface="Calibri" pitchFamily="34" charset="-120"/>
                        </a:rPr>
                        <a:t>Owns the main loop</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Deephaven</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Us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Us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530352">
                <a:tc>
                  <a:txBody>
                    <a:bodyPr/>
                    <a:lstStyle/>
                    <a:p>
                      <a:pPr indent="0" marL="0">
                        <a:buNone/>
                      </a:pPr>
                      <a:r>
                        <a:rPr lang="en-US" sz="1300" b="1" dirty="0">
                          <a:solidFill>
                            <a:srgbClr val="17212B"/>
                          </a:solidFill>
                          <a:latin typeface="Calibri" pitchFamily="34" charset="0"/>
                          <a:ea typeface="Calibri" pitchFamily="34" charset="-122"/>
                          <a:cs typeface="Calibri" pitchFamily="34" charset="-120"/>
                        </a:rPr>
                        <a:t>Checkpoints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~1 s cycle or an event-driven graph</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Event-driven graph our synchronizer steps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Snapshots and subscriptions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530352">
                <a:tc>
                  <a:txBody>
                    <a:bodyPr/>
                    <a:lstStyle/>
                    <a:p>
                      <a:pPr indent="0" marL="0">
                        <a:buNone/>
                      </a:pPr>
                      <a:r>
                        <a:rPr lang="en-US" sz="1300" b="1" dirty="0">
                          <a:solidFill>
                            <a:srgbClr val="17212B"/>
                          </a:solidFill>
                          <a:latin typeface="Calibri" pitchFamily="34" charset="0"/>
                          <a:ea typeface="Calibri" pitchFamily="34" charset="-122"/>
                          <a:cs typeface="Calibri" pitchFamily="34" charset="-120"/>
                        </a:rPr>
                        <a:t>Data path</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In-process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In-process, no network hop</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Network: Barrage</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530352">
                <a:tc>
                  <a:txBody>
                    <a:bodyPr/>
                    <a:lstStyle/>
                    <a:p>
                      <a:pPr indent="0" marL="0">
                        <a:buNone/>
                      </a:pPr>
                      <a:r>
                        <a:rPr lang="en-US" sz="1300" b="1" dirty="0">
                          <a:solidFill>
                            <a:srgbClr val="17212B"/>
                          </a:solidFill>
                          <a:latin typeface="Calibri" pitchFamily="34" charset="0"/>
                          <a:ea typeface="Calibri" pitchFamily="34" charset="-122"/>
                          <a:cs typeface="Calibri" pitchFamily="34" charset="-120"/>
                        </a:rPr>
                        <a:t>Python interpreter</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Shared with the engine</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Shared: listener lag doubled under load</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Separate</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530352">
                <a:tc>
                  <a:txBody>
                    <a:bodyPr/>
                    <a:lstStyle/>
                    <a:p>
                      <a:pPr indent="0" marL="0">
                        <a:buNone/>
                      </a:pPr>
                      <a:r>
                        <a:rPr lang="en-US" sz="1300" b="1" dirty="0">
                          <a:solidFill>
                            <a:srgbClr val="17212B"/>
                          </a:solidFill>
                          <a:latin typeface="Calibri" pitchFamily="34" charset="0"/>
                          <a:ea typeface="Calibri" pitchFamily="34" charset="-122"/>
                          <a:cs typeface="Calibri" pitchFamily="34" charset="-120"/>
                        </a:rPr>
                        <a:t>Failure domain</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Shared</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Shared</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Separate</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530352">
                <a:tc>
                  <a:txBody>
                    <a:bodyPr/>
                    <a:lstStyle/>
                    <a:p>
                      <a:pPr indent="0" marL="0">
                        <a:buNone/>
                      </a:pPr>
                      <a:r>
                        <a:rPr lang="en-US" sz="1300" b="1" dirty="0">
                          <a:solidFill>
                            <a:srgbClr val="17212B"/>
                          </a:solidFill>
                          <a:latin typeface="Calibri" pitchFamily="34" charset="0"/>
                          <a:ea typeface="Calibri" pitchFamily="34" charset="-122"/>
                          <a:cs typeface="Calibri" pitchFamily="34" charset="-120"/>
                        </a:rPr>
                        <a:t>Console exposure</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Our code lives in the worker scope</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Our __main__ is the console scope</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Only what we publish</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530352">
                <a:tc>
                  <a:txBody>
                    <a:bodyPr/>
                    <a:lstStyle/>
                    <a:p>
                      <a:pPr indent="0" marL="0">
                        <a:buNone/>
                      </a:pPr>
                      <a:r>
                        <a:rPr lang="en-US" sz="1300" b="1" dirty="0">
                          <a:solidFill>
                            <a:srgbClr val="17212B"/>
                          </a:solidFill>
                          <a:latin typeface="Calibri" pitchFamily="34" charset="0"/>
                          <a:ea typeface="Calibri" pitchFamily="34" charset="-122"/>
                          <a:cs typeface="Calibri" pitchFamily="34" charset="-120"/>
                        </a:rPr>
                        <a:t>Restart</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A new worker</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Only with our process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Restart the subprocess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530352">
                <a:tc>
                  <a:txBody>
                    <a:bodyPr/>
                    <a:lstStyle/>
                    <a:p>
                      <a:pPr indent="0" marL="0">
                        <a:buNone/>
                      </a:pPr>
                      <a:r>
                        <a:rPr lang="en-US" sz="1300" b="1" dirty="0">
                          <a:solidFill>
                            <a:srgbClr val="17212B"/>
                          </a:solidFill>
                          <a:latin typeface="Calibri" pitchFamily="34" charset="0"/>
                          <a:ea typeface="Calibri" pitchFamily="34" charset="-122"/>
                          <a:cs typeface="Calibri" pitchFamily="34" charset="-120"/>
                        </a:rPr>
                        <a:t>On the plant</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A PQ</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Not applicable</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A client of PQs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Embedded: Deephaven on our thread, stepped by our clock</a:t>
            </a:r>
            <a:endParaRPr lang="en-US" sz="3000" dirty="0"/>
          </a:p>
        </p:txBody>
      </p:sp>
      <p:pic>
        <p:nvPicPr>
          <p:cNvPr id="4" name="Diagram: our process with main thread, dh-service thread, engine graphs and port" descr="Diagram: our process with main thread, dh-service thread, engine graphs and port">    </p:cNvPr>
          <p:cNvPicPr>
            <a:picLocks noChangeAspect="1"/>
          </p:cNvPicPr>
          <p:nvPr/>
        </p:nvPicPr>
        <p:blipFill>
          <a:blip r:embed="rId1"/>
          <a:stretch>
            <a:fillRect/>
          </a:stretch>
        </p:blipFill>
        <p:spPr>
          <a:xfrm>
            <a:off x="548640" y="1417320"/>
            <a:ext cx="6766560" cy="3937091"/>
          </a:xfrm>
          <a:prstGeom prst="rect">
            <a:avLst/>
          </a:prstGeom>
        </p:spPr>
      </p:pic>
      <p:sp>
        <p:nvSpPr>
          <p:cNvPr id="5" name="embedded stat 1 value"/>
          <p:cNvSpPr txBox="1"/>
          <p:nvPr/>
        </p:nvSpPr>
        <p:spPr>
          <a:xfrm>
            <a:off x="7680960" y="1371600"/>
            <a:ext cx="3959352" cy="457200"/>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9.4 s</a:t>
            </a:r>
            <a:endParaRPr lang="en-US" sz="2600" dirty="0"/>
          </a:p>
        </p:txBody>
      </p:sp>
      <p:sp>
        <p:nvSpPr>
          <p:cNvPr id="6" name="embedded stat 1 label"/>
          <p:cNvSpPr txBox="1"/>
          <p:nvPr/>
        </p:nvSpPr>
        <p:spPr>
          <a:xfrm>
            <a:off x="7680960" y="1874520"/>
            <a:ext cx="3959352" cy="594360"/>
          </a:xfrm>
          <a:prstGeom prst="rect">
            <a:avLst/>
          </a:prstGeom>
          <a:noFill/>
          <a:ln/>
        </p:spPr>
        <p:txBody>
          <a:bodyPr wrap="square" lIns="0" tIns="0" rIns="0" bIns="0" rtlCol="0" anchor="t"/>
          <a:lstStyle/>
          <a:p>
            <a:pPr indent="0" marL="0">
              <a:buNone/>
            </a:pPr>
            <a:r>
              <a:rPr lang="en-US" sz="1400" dirty="0">
                <a:solidFill>
                  <a:schemeClr val="tx1"/>
                </a:solidFill>
              </a:rPr>
              <a:t>to start on a background thread; clients connected normally</a:t>
            </a:r>
            <a:endParaRPr lang="en-US" sz="1400" dirty="0"/>
          </a:p>
        </p:txBody>
      </p:sp>
      <p:sp>
        <p:nvSpPr>
          <p:cNvPr id="7" name="embedded stat 2 value"/>
          <p:cNvSpPr txBox="1"/>
          <p:nvPr/>
        </p:nvSpPr>
        <p:spPr>
          <a:xfrm>
            <a:off x="7680960" y="2587752"/>
            <a:ext cx="3959352" cy="457200"/>
          </a:xfrm>
          <a:prstGeom prst="rect">
            <a:avLst/>
          </a:prstGeom>
          <a:noFill/>
          <a:ln/>
        </p:spPr>
        <p:txBody>
          <a:bodyPr wrap="square" lIns="0" tIns="0" rIns="0" bIns="0" rtlCol="0" anchor="b"/>
          <a:lstStyle/>
          <a:p>
            <a:pPr indent="0" marL="0">
              <a:buNone/>
            </a:pPr>
            <a:r>
              <a:rPr lang="en-US" sz="2600" b="1" dirty="0">
                <a:solidFill>
                  <a:schemeClr val="accent4"/>
                </a:solidFill>
                <a:latin typeface="Cambria" pitchFamily="34" charset="0"/>
                <a:ea typeface="Cambria" pitchFamily="34" charset="-122"/>
                <a:cs typeface="Cambria" pitchFamily="34" charset="-120"/>
              </a:rPr>
              <a:t>36.6 → 74.8 ms</a:t>
            </a:r>
            <a:endParaRPr lang="en-US" sz="2600" dirty="0"/>
          </a:p>
        </p:txBody>
      </p:sp>
      <p:sp>
        <p:nvSpPr>
          <p:cNvPr id="8" name="embedded stat 2 label"/>
          <p:cNvSpPr txBox="1"/>
          <p:nvPr/>
        </p:nvSpPr>
        <p:spPr>
          <a:xfrm>
            <a:off x="7680960" y="3090672"/>
            <a:ext cx="3959352" cy="594360"/>
          </a:xfrm>
          <a:prstGeom prst="rect">
            <a:avLst/>
          </a:prstGeom>
          <a:noFill/>
          <a:ln/>
        </p:spPr>
        <p:txBody>
          <a:bodyPr wrap="square" lIns="0" tIns="0" rIns="0" bIns="0" rtlCol="0" anchor="t"/>
          <a:lstStyle/>
          <a:p>
            <a:pPr indent="0" marL="0">
              <a:buNone/>
            </a:pPr>
            <a:r>
              <a:rPr lang="en-US" sz="1400" dirty="0">
                <a:solidFill>
                  <a:schemeClr val="tx1"/>
                </a:solidFill>
              </a:rPr>
              <a:t>median listener lag, idle vs. host burning CPU in Python</a:t>
            </a:r>
            <a:endParaRPr lang="en-US" sz="1400" dirty="0"/>
          </a:p>
        </p:txBody>
      </p:sp>
      <p:sp>
        <p:nvSpPr>
          <p:cNvPr id="9" name="embedded stat 3 value"/>
          <p:cNvSpPr txBox="1"/>
          <p:nvPr/>
        </p:nvSpPr>
        <p:spPr>
          <a:xfrm>
            <a:off x="7680960" y="3803904"/>
            <a:ext cx="3959352" cy="457200"/>
          </a:xfrm>
          <a:prstGeom prst="rect">
            <a:avLst/>
          </a:prstGeom>
          <a:noFill/>
          <a:ln/>
        </p:spPr>
        <p:txBody>
          <a:bodyPr wrap="square" lIns="0" tIns="0" rIns="0" bIns="0" rtlCol="0" anchor="b"/>
          <a:lstStyle/>
          <a:p>
            <a:pPr indent="0" marL="0">
              <a:buNone/>
            </a:pPr>
            <a:r>
              <a:rPr lang="en-US" sz="2600" b="1" dirty="0">
                <a:solidFill>
                  <a:schemeClr val="accent2"/>
                </a:solidFill>
                <a:latin typeface="Cambria" pitchFamily="34" charset="0"/>
                <a:ea typeface="Cambria" pitchFamily="34" charset="-122"/>
                <a:cs typeface="Cambria" pitchFamily="34" charset="-120"/>
              </a:rPr>
              <a:t>1</a:t>
            </a:r>
            <a:endParaRPr lang="en-US" sz="2600" dirty="0"/>
          </a:p>
        </p:txBody>
      </p:sp>
      <p:sp>
        <p:nvSpPr>
          <p:cNvPr id="10" name="embedded stat 3 label"/>
          <p:cNvSpPr txBox="1"/>
          <p:nvPr/>
        </p:nvSpPr>
        <p:spPr>
          <a:xfrm>
            <a:off x="7680960" y="4306824"/>
            <a:ext cx="3959352" cy="594360"/>
          </a:xfrm>
          <a:prstGeom prst="rect">
            <a:avLst/>
          </a:prstGeom>
          <a:noFill/>
          <a:ln/>
        </p:spPr>
        <p:txBody>
          <a:bodyPr wrap="square" lIns="0" tIns="0" rIns="0" bIns="0" rtlCol="0" anchor="t"/>
          <a:lstStyle/>
          <a:p>
            <a:pPr indent="0" marL="0">
              <a:buNone/>
            </a:pPr>
            <a:r>
              <a:rPr lang="en-US" sz="1400" dirty="0">
                <a:solidFill>
                  <a:schemeClr val="tx1"/>
                </a:solidFill>
              </a:rPr>
              <a:t>server per process: a second start() is refused</a:t>
            </a:r>
            <a:endParaRPr lang="en-US" sz="1400" dirty="0"/>
          </a:p>
        </p:txBody>
      </p:sp>
      <p:sp>
        <p:nvSpPr>
          <p:cNvPr id="11" name="embedded stat 4 value"/>
          <p:cNvSpPr txBox="1"/>
          <p:nvPr/>
        </p:nvSpPr>
        <p:spPr>
          <a:xfrm>
            <a:off x="7680960" y="5020056"/>
            <a:ext cx="3959352" cy="457200"/>
          </a:xfrm>
          <a:prstGeom prst="rect">
            <a:avLst/>
          </a:prstGeom>
          <a:noFill/>
          <a:ln/>
        </p:spPr>
        <p:txBody>
          <a:bodyPr wrap="square" lIns="0" tIns="0" rIns="0" bIns="0" rtlCol="0" anchor="b"/>
          <a:lstStyle/>
          <a:p>
            <a:pPr indent="0" marL="0">
              <a:buNone/>
            </a:pPr>
            <a:r>
              <a:rPr lang="en-US" sz="2600" b="1" dirty="0">
                <a:solidFill>
                  <a:schemeClr val="accent2"/>
                </a:solidFill>
                <a:latin typeface="Cambria" pitchFamily="34" charset="0"/>
                <a:ea typeface="Cambria" pitchFamily="34" charset="-122"/>
                <a:cs typeface="Cambria" pitchFamily="34" charset="-120"/>
              </a:rPr>
              <a:t>__main__</a:t>
            </a:r>
            <a:endParaRPr lang="en-US" sz="2600" dirty="0"/>
          </a:p>
        </p:txBody>
      </p:sp>
      <p:sp>
        <p:nvSpPr>
          <p:cNvPr id="12" name="embedded stat 4 label"/>
          <p:cNvSpPr txBox="1"/>
          <p:nvPr/>
        </p:nvSpPr>
        <p:spPr>
          <a:xfrm>
            <a:off x="7680960" y="5522976"/>
            <a:ext cx="3959352" cy="594360"/>
          </a:xfrm>
          <a:prstGeom prst="rect">
            <a:avLst/>
          </a:prstGeom>
          <a:noFill/>
          <a:ln/>
        </p:spPr>
        <p:txBody>
          <a:bodyPr wrap="square" lIns="0" tIns="0" rIns="0" bIns="0" rtlCol="0" anchor="t"/>
          <a:lstStyle/>
          <a:p>
            <a:pPr indent="0" marL="0">
              <a:buNone/>
            </a:pPr>
            <a:r>
              <a:rPr lang="en-US" sz="1400" dirty="0">
                <a:solidFill>
                  <a:schemeClr val="tx1"/>
                </a:solidFill>
              </a:rPr>
              <a:t>is the console scope: a client modified our state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As a subprocess: isolation for one network hop</a:t>
            </a:r>
            <a:endParaRPr lang="en-US" sz="3000" dirty="0"/>
          </a:p>
        </p:txBody>
      </p:sp>
      <p:pic>
        <p:nvPicPr>
          <p:cNvPr id="4" name="Diagram: algorithm process hosting the Deephaven server as a subprocess" descr="Diagram: algorithm process hosting the Deephaven server as a subprocess">    </p:cNvPr>
          <p:cNvPicPr>
            <a:picLocks noChangeAspect="1"/>
          </p:cNvPicPr>
          <p:nvPr/>
        </p:nvPicPr>
        <p:blipFill>
          <a:blip r:embed="rId1"/>
          <a:stretch>
            <a:fillRect/>
          </a:stretch>
        </p:blipFill>
        <p:spPr>
          <a:xfrm>
            <a:off x="548640" y="1280160"/>
            <a:ext cx="5647384" cy="4983480"/>
          </a:xfrm>
          <a:prstGeom prst="rect">
            <a:avLst/>
          </a:prstGeom>
        </p:spPr>
      </p:pic>
      <p:sp>
        <p:nvSpPr>
          <p:cNvPr id="5" name="subprocess stat 1 value"/>
          <p:cNvSpPr txBox="1"/>
          <p:nvPr/>
        </p:nvSpPr>
        <p:spPr>
          <a:xfrm>
            <a:off x="6766560" y="1371600"/>
            <a:ext cx="4873752" cy="457200"/>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10.9 s</a:t>
            </a:r>
            <a:endParaRPr lang="en-US" sz="2600" dirty="0"/>
          </a:p>
        </p:txBody>
      </p:sp>
      <p:sp>
        <p:nvSpPr>
          <p:cNvPr id="6" name="subprocess stat 1 label"/>
          <p:cNvSpPr txBox="1"/>
          <p:nvPr/>
        </p:nvSpPr>
        <p:spPr>
          <a:xfrm>
            <a:off x="6766560" y="1874520"/>
            <a:ext cx="4873752" cy="594360"/>
          </a:xfrm>
          <a:prstGeom prst="rect">
            <a:avLst/>
          </a:prstGeom>
          <a:noFill/>
          <a:ln/>
        </p:spPr>
        <p:txBody>
          <a:bodyPr wrap="square" lIns="0" tIns="0" rIns="0" bIns="0" rtlCol="0" anchor="t"/>
          <a:lstStyle/>
          <a:p>
            <a:pPr indent="0" marL="0">
              <a:buNone/>
            </a:pPr>
            <a:r>
              <a:rPr lang="en-US" sz="1400" dirty="0">
                <a:solidFill>
                  <a:schemeClr val="tx1"/>
                </a:solidFill>
              </a:rPr>
              <a:t>from launch to a connected client session</a:t>
            </a:r>
            <a:endParaRPr lang="en-US" sz="1400" dirty="0"/>
          </a:p>
        </p:txBody>
      </p:sp>
      <p:sp>
        <p:nvSpPr>
          <p:cNvPr id="7" name="subprocess stat 2 value"/>
          <p:cNvSpPr txBox="1"/>
          <p:nvPr/>
        </p:nvSpPr>
        <p:spPr>
          <a:xfrm>
            <a:off x="6766560" y="2587752"/>
            <a:ext cx="4873752" cy="457200"/>
          </a:xfrm>
          <a:prstGeom prst="rect">
            <a:avLst/>
          </a:prstGeom>
          <a:noFill/>
          <a:ln/>
        </p:spPr>
        <p:txBody>
          <a:bodyPr wrap="square" lIns="0" tIns="0" rIns="0" bIns="0" rtlCol="0" anchor="b"/>
          <a:lstStyle/>
          <a:p>
            <a:pPr indent="0" marL="0">
              <a:buNone/>
            </a:pPr>
            <a:r>
              <a:rPr lang="en-US" sz="2600" b="1" dirty="0">
                <a:solidFill>
                  <a:schemeClr val="accent3"/>
                </a:solidFill>
                <a:latin typeface="Cambria" pitchFamily="34" charset="0"/>
                <a:ea typeface="Cambria" pitchFamily="34" charset="-122"/>
                <a:cs typeface="Cambria" pitchFamily="34" charset="-120"/>
              </a:rPr>
              <a:t>6 → 21 → 26</a:t>
            </a:r>
            <a:endParaRPr lang="en-US" sz="2600" dirty="0"/>
          </a:p>
        </p:txBody>
      </p:sp>
      <p:sp>
        <p:nvSpPr>
          <p:cNvPr id="8" name="subprocess stat 2 label"/>
          <p:cNvSpPr txBox="1"/>
          <p:nvPr/>
        </p:nvSpPr>
        <p:spPr>
          <a:xfrm>
            <a:off x="6766560" y="3090672"/>
            <a:ext cx="4873752" cy="594360"/>
          </a:xfrm>
          <a:prstGeom prst="rect">
            <a:avLst/>
          </a:prstGeom>
          <a:noFill/>
          <a:ln/>
        </p:spPr>
        <p:txBody>
          <a:bodyPr wrap="square" lIns="0" tIns="0" rIns="0" bIns="0" rtlCol="0" anchor="t"/>
          <a:lstStyle/>
          <a:p>
            <a:pPr indent="0" marL="0">
              <a:buNone/>
            </a:pPr>
            <a:r>
              <a:rPr lang="en-US" sz="1400" dirty="0">
                <a:solidFill>
                  <a:schemeClr val="tx1"/>
                </a:solidFill>
              </a:rPr>
              <a:t>per-symbol counts at our 1.5 s checkpoints: whole engine cycles</a:t>
            </a:r>
            <a:endParaRPr lang="en-US" sz="1400" dirty="0"/>
          </a:p>
        </p:txBody>
      </p:sp>
      <p:sp>
        <p:nvSpPr>
          <p:cNvPr id="9" name="subprocess stat 3 value"/>
          <p:cNvSpPr txBox="1"/>
          <p:nvPr/>
        </p:nvSpPr>
        <p:spPr>
          <a:xfrm>
            <a:off x="6766560" y="3803904"/>
            <a:ext cx="4873752" cy="457200"/>
          </a:xfrm>
          <a:prstGeom prst="rect">
            <a:avLst/>
          </a:prstGeom>
          <a:noFill/>
          <a:ln/>
        </p:spPr>
        <p:txBody>
          <a:bodyPr wrap="square" lIns="0" tIns="0" rIns="0" bIns="0" rtlCol="0" anchor="b"/>
          <a:lstStyle/>
          <a:p>
            <a:pPr indent="0" marL="0">
              <a:buNone/>
            </a:pPr>
            <a:r>
              <a:rPr lang="en-US" sz="2600" b="1" dirty="0">
                <a:solidFill>
                  <a:schemeClr val="accent2"/>
                </a:solidFill>
                <a:latin typeface="Cambria" pitchFamily="34" charset="0"/>
                <a:ea typeface="Cambria" pitchFamily="34" charset="-122"/>
                <a:cs typeface="Cambria" pitchFamily="34" charset="-120"/>
              </a:rPr>
              <a:t>exit 1</a:t>
            </a:r>
            <a:endParaRPr lang="en-US" sz="2600" dirty="0"/>
          </a:p>
        </p:txBody>
      </p:sp>
      <p:sp>
        <p:nvSpPr>
          <p:cNvPr id="10" name="subprocess stat 3 label"/>
          <p:cNvSpPr txBox="1"/>
          <p:nvPr/>
        </p:nvSpPr>
        <p:spPr>
          <a:xfrm>
            <a:off x="6766560" y="4306824"/>
            <a:ext cx="4873752" cy="594360"/>
          </a:xfrm>
          <a:prstGeom prst="rect">
            <a:avLst/>
          </a:prstGeom>
          <a:noFill/>
          <a:ln/>
        </p:spPr>
        <p:txBody>
          <a:bodyPr wrap="square" lIns="0" tIns="0" rIns="0" bIns="0" rtlCol="0" anchor="t"/>
          <a:lstStyle/>
          <a:p>
            <a:pPr indent="0" marL="0">
              <a:buNone/>
            </a:pPr>
            <a:r>
              <a:rPr lang="en-US" sz="1400" dirty="0">
                <a:solidFill>
                  <a:schemeClr val="tx1"/>
                </a:solidFill>
              </a:rPr>
              <a:t>Windows terminate() is a hard kill: stop gracefully by request</a:t>
            </a:r>
            <a:endParaRPr lang="en-US" sz="1400" dirty="0"/>
          </a:p>
        </p:txBody>
      </p:sp>
      <p:sp>
        <p:nvSpPr>
          <p:cNvPr id="11" name="subprocess stat 4 value"/>
          <p:cNvSpPr txBox="1"/>
          <p:nvPr/>
        </p:nvSpPr>
        <p:spPr>
          <a:xfrm>
            <a:off x="6766560" y="5020056"/>
            <a:ext cx="4873752" cy="457200"/>
          </a:xfrm>
          <a:prstGeom prst="rect">
            <a:avLst/>
          </a:prstGeom>
          <a:noFill/>
          <a:ln/>
        </p:spPr>
        <p:txBody>
          <a:bodyPr wrap="square" lIns="0" tIns="0" rIns="0" bIns="0" rtlCol="0" anchor="b"/>
          <a:lstStyle/>
          <a:p>
            <a:pPr indent="0" marL="0">
              <a:buNone/>
            </a:pPr>
            <a:r>
              <a:rPr lang="en-US" sz="2600" b="1" dirty="0">
                <a:solidFill>
                  <a:schemeClr val="tx2"/>
                </a:solidFill>
                <a:latin typeface="Cambria" pitchFamily="34" charset="0"/>
                <a:ea typeface="Cambria" pitchFamily="34" charset="-122"/>
                <a:cs typeface="Cambria" pitchFamily="34" charset="-120"/>
              </a:rPr>
              <a:t>1 port</a:t>
            </a:r>
            <a:endParaRPr lang="en-US" sz="2600" dirty="0"/>
          </a:p>
        </p:txBody>
      </p:sp>
      <p:sp>
        <p:nvSpPr>
          <p:cNvPr id="12" name="subprocess stat 4 label"/>
          <p:cNvSpPr txBox="1"/>
          <p:nvPr/>
        </p:nvSpPr>
        <p:spPr>
          <a:xfrm>
            <a:off x="6766560" y="5522976"/>
            <a:ext cx="4873752" cy="594360"/>
          </a:xfrm>
          <a:prstGeom prst="rect">
            <a:avLst/>
          </a:prstGeom>
          <a:noFill/>
          <a:ln/>
        </p:spPr>
        <p:txBody>
          <a:bodyPr wrap="square" lIns="0" tIns="0" rIns="0" bIns="0" rtlCol="0" anchor="t"/>
          <a:lstStyle/>
          <a:p>
            <a:pPr indent="0" marL="0">
              <a:buNone/>
            </a:pPr>
            <a:r>
              <a:rPr lang="en-US" sz="1400" dirty="0">
                <a:solidFill>
                  <a:schemeClr val="tx1"/>
                </a:solidFill>
              </a:rPr>
              <a:t>is the whole boundary between the two runtimes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On the plant: table work in PQs, stateful apps beside them</a:t>
            </a:r>
            <a:endParaRPr lang="en-US" sz="3000" dirty="0"/>
          </a:p>
        </p:txBody>
      </p:sp>
      <p:pic>
        <p:nvPicPr>
          <p:cNvPr id="4" name="Diagram: three PQs on the plant and the event framework as a co-located client" descr="Diagram: three PQs on the plant and the event framework as a co-located client">    </p:cNvPr>
          <p:cNvPicPr>
            <a:picLocks noChangeAspect="1"/>
          </p:cNvPicPr>
          <p:nvPr/>
        </p:nvPicPr>
        <p:blipFill>
          <a:blip r:embed="rId1"/>
          <a:stretch>
            <a:fillRect/>
          </a:stretch>
        </p:blipFill>
        <p:spPr>
          <a:xfrm>
            <a:off x="548640" y="1371600"/>
            <a:ext cx="7863840" cy="3498941"/>
          </a:xfrm>
          <a:prstGeom prst="rect">
            <a:avLst/>
          </a:prstGeom>
        </p:spPr>
      </p:pic>
      <p:sp>
        <p:nvSpPr>
          <p:cNvPr id="5" name="decision card"/>
          <p:cNvSpPr/>
          <p:nvPr/>
        </p:nvSpPr>
        <p:spPr>
          <a:xfrm>
            <a:off x="8641080" y="1371600"/>
            <a:ext cx="2999232" cy="3429000"/>
          </a:xfrm>
          <a:prstGeom prst="roundRect">
            <a:avLst>
              <a:gd name="adj" fmla="val 2439"/>
            </a:avLst>
          </a:prstGeom>
          <a:solidFill>
            <a:schemeClr val="tx2"/>
          </a:solidFill>
          <a:ln w="9525">
            <a:solidFill>
              <a:schemeClr val="tx2"/>
            </a:solidFill>
            <a:prstDash val="solid"/>
          </a:ln>
        </p:spPr>
      </p:sp>
      <p:sp>
        <p:nvSpPr>
          <p:cNvPr id="6" name="decision text"/>
          <p:cNvSpPr txBox="1"/>
          <p:nvPr/>
        </p:nvSpPr>
        <p:spPr>
          <a:xfrm>
            <a:off x="8869680" y="1600200"/>
            <a:ext cx="2560320" cy="3063240"/>
          </a:xfrm>
          <a:prstGeom prst="rect">
            <a:avLst/>
          </a:prstGeom>
          <a:noFill/>
          <a:ln/>
        </p:spPr>
        <p:txBody>
          <a:bodyPr wrap="square" lIns="0" tIns="0" rIns="0" bIns="0" rtlCol="0" anchor="t"/>
          <a:lstStyle/>
          <a:p>
            <a:pPr indent="0" marL="0">
              <a:spcAft>
                <a:spcPts val="200"/>
              </a:spcAft>
              <a:buNone/>
            </a:pPr>
            <a:r>
              <a:rPr lang="en-US" sz="1800" b="1" dirty="0">
                <a:solidFill>
                  <a:schemeClr val="bg1"/>
                </a:solidFill>
              </a:rPr>
              <a:t>The one-question test</a:t>
            </a:r>
            <a:endParaRPr lang="en-US" sz="1500" dirty="0"/>
          </a:p>
          <a:p>
            <a:pPr indent="0" marL="0">
              <a:spcAft>
                <a:spcPts val="200"/>
              </a:spcAft>
              <a:buNone/>
            </a:pPr>
            <a:r>
              <a:rPr lang="en-US" sz="600" dirty="0">
                <a:solidFill>
                  <a:schemeClr val="tx1"/>
                </a:solidFill>
              </a:rPr>
              <a:t> </a:t>
            </a:r>
            <a:endParaRPr lang="en-US" sz="1500" dirty="0"/>
          </a:p>
          <a:p>
            <a:pPr indent="0" marL="0">
              <a:spcAft>
                <a:spcPts val="200"/>
              </a:spcAft>
              <a:buNone/>
            </a:pPr>
            <a:r>
              <a:rPr lang="en-US" sz="1500" b="1" dirty="0">
                <a:solidFill>
                  <a:schemeClr val="bg1"/>
                </a:solidFill>
              </a:rPr>
              <a:t>Mostly table operations?</a:t>
            </a:r>
            <a:endParaRPr lang="en-US" sz="1500" dirty="0"/>
          </a:p>
          <a:p>
            <a:pPr indent="0" marL="0">
              <a:spcAft>
                <a:spcPts val="200"/>
              </a:spcAft>
              <a:buNone/>
            </a:pPr>
            <a:r>
              <a:rPr lang="en-US" sz="1500" dirty="0">
                <a:solidFill>
                  <a:schemeClr val="bg2"/>
                </a:solidFill>
              </a:rPr>
              <a:t>Run it as a PQ.</a:t>
            </a:r>
            <a:endParaRPr lang="en-US" sz="1500" dirty="0"/>
          </a:p>
          <a:p>
            <a:pPr indent="0" marL="0">
              <a:spcAft>
                <a:spcPts val="200"/>
              </a:spcAft>
              <a:buNone/>
            </a:pPr>
            <a:r>
              <a:rPr lang="en-US" sz="600" dirty="0">
                <a:solidFill>
                  <a:schemeClr val="tx1"/>
                </a:solidFill>
              </a:rPr>
              <a:t> </a:t>
            </a:r>
            <a:endParaRPr lang="en-US" sz="1500" dirty="0"/>
          </a:p>
          <a:p>
            <a:pPr indent="0" marL="0">
              <a:spcAft>
                <a:spcPts val="200"/>
              </a:spcAft>
              <a:buNone/>
            </a:pPr>
            <a:r>
              <a:rPr lang="en-US" sz="1500" b="1" dirty="0">
                <a:solidFill>
                  <a:schemeClr val="bg1"/>
                </a:solidFill>
              </a:rPr>
              <a:t>Mostly other work with some table data?</a:t>
            </a:r>
            <a:endParaRPr lang="en-US" sz="1500" dirty="0"/>
          </a:p>
          <a:p>
            <a:pPr indent="0" marL="0">
              <a:spcAft>
                <a:spcPts val="200"/>
              </a:spcAft>
              <a:buNone/>
            </a:pPr>
            <a:r>
              <a:rPr lang="en-US" sz="1500" dirty="0">
                <a:solidFill>
                  <a:schemeClr val="bg2"/>
                </a:solidFill>
              </a:rPr>
              <a:t>Run it beside the plant as a client, a subprocess service or a thread-hosted engine.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We can inventory a running app without its source</a:t>
            </a:r>
            <a:endParaRPr lang="en-US" sz="3000" dirty="0"/>
          </a:p>
        </p:txBody>
      </p:sp>
      <p:sp>
        <p:nvSpPr>
          <p:cNvPr id="4" name="can title"/>
          <p:cNvSpPr txBox="1"/>
          <p:nvPr/>
        </p:nvSpPr>
        <p:spPr>
          <a:xfrm>
            <a:off x="548640" y="1325880"/>
            <a:ext cx="6035040" cy="457200"/>
          </a:xfrm>
          <a:prstGeom prst="rect">
            <a:avLst/>
          </a:prstGeom>
          <a:noFill/>
          <a:ln/>
        </p:spPr>
        <p:txBody>
          <a:bodyPr wrap="square" lIns="0" tIns="0" rIns="0" bIns="0" rtlCol="0" anchor="t"/>
          <a:lstStyle/>
          <a:p>
            <a:pPr indent="0" marL="0">
              <a:buNone/>
            </a:pPr>
            <a:r>
              <a:rPr lang="en-US" sz="1900" b="1" dirty="0">
                <a:solidFill>
                  <a:schemeClr val="tx2"/>
                </a:solidFill>
              </a:rPr>
              <a:t>What the report shows</a:t>
            </a:r>
            <a:endParaRPr lang="en-US" sz="1900" dirty="0"/>
          </a:p>
        </p:txBody>
      </p:sp>
      <p:pic>
        <p:nvPicPr>
          <p:cNvPr id="5" name="can icon 1" descr="check">    </p:cNvPr>
          <p:cNvPicPr>
            <a:picLocks noChangeAspect="1"/>
          </p:cNvPicPr>
          <p:nvPr/>
        </p:nvPicPr>
        <p:blipFill>
          <a:blip r:embed="rId1"/>
          <a:stretch>
            <a:fillRect/>
          </a:stretch>
        </p:blipFill>
        <p:spPr>
          <a:xfrm>
            <a:off x="548640" y="1920240"/>
            <a:ext cx="310896" cy="310896"/>
          </a:xfrm>
          <a:prstGeom prst="rect">
            <a:avLst/>
          </a:prstGeom>
        </p:spPr>
      </p:pic>
      <p:sp>
        <p:nvSpPr>
          <p:cNvPr id="6" name="can 1"/>
          <p:cNvSpPr txBox="1"/>
          <p:nvPr/>
        </p:nvSpPr>
        <p:spPr>
          <a:xfrm>
            <a:off x="1005840" y="1892808"/>
            <a:ext cx="5577840" cy="411480"/>
          </a:xfrm>
          <a:prstGeom prst="rect">
            <a:avLst/>
          </a:prstGeom>
          <a:noFill/>
          <a:ln/>
        </p:spPr>
        <p:txBody>
          <a:bodyPr wrap="square" lIns="0" tIns="0" rIns="0" bIns="0" rtlCol="0" anchor="t"/>
          <a:lstStyle/>
          <a:p>
            <a:pPr indent="0" marL="0">
              <a:buNone/>
            </a:pPr>
            <a:r>
              <a:rPr lang="en-US" sz="1500" dirty="0">
                <a:solidFill>
                  <a:schemeClr val="tx1"/>
                </a:solidFill>
              </a:rPr>
              <a:t>Every exposed field and its type, across all apps</a:t>
            </a:r>
            <a:endParaRPr lang="en-US" sz="1500" dirty="0"/>
          </a:p>
        </p:txBody>
      </p:sp>
      <p:pic>
        <p:nvPicPr>
          <p:cNvPr id="7" name="can icon 2" descr="check">    </p:cNvPr>
          <p:cNvPicPr>
            <a:picLocks noChangeAspect="1"/>
          </p:cNvPicPr>
          <p:nvPr/>
        </p:nvPicPr>
        <p:blipFill>
          <a:blip r:embed="rId2"/>
          <a:stretch>
            <a:fillRect/>
          </a:stretch>
        </p:blipFill>
        <p:spPr>
          <a:xfrm>
            <a:off x="548640" y="2523744"/>
            <a:ext cx="310896" cy="310896"/>
          </a:xfrm>
          <a:prstGeom prst="rect">
            <a:avLst/>
          </a:prstGeom>
        </p:spPr>
      </p:pic>
      <p:sp>
        <p:nvSpPr>
          <p:cNvPr id="8" name="can 2"/>
          <p:cNvSpPr txBox="1"/>
          <p:nvPr/>
        </p:nvSpPr>
        <p:spPr>
          <a:xfrm>
            <a:off x="1005840" y="2496312"/>
            <a:ext cx="5577840" cy="411480"/>
          </a:xfrm>
          <a:prstGeom prst="rect">
            <a:avLst/>
          </a:prstGeom>
          <a:noFill/>
          <a:ln/>
        </p:spPr>
        <p:txBody>
          <a:bodyPr wrap="square" lIns="0" tIns="0" rIns="0" bIns="0" rtlCol="0" anchor="t"/>
          <a:lstStyle/>
          <a:p>
            <a:pPr indent="0" marL="0">
              <a:buNone/>
            </a:pPr>
            <a:r>
              <a:rPr lang="en-US" sz="1500" dirty="0">
                <a:solidFill>
                  <a:schemeClr val="tx1"/>
                </a:solidFill>
              </a:rPr>
              <a:t>Scope objects by kind, underscore names included</a:t>
            </a:r>
            <a:endParaRPr lang="en-US" sz="1500" dirty="0"/>
          </a:p>
        </p:txBody>
      </p:sp>
      <p:pic>
        <p:nvPicPr>
          <p:cNvPr id="9" name="can icon 3" descr="check">    </p:cNvPr>
          <p:cNvPicPr>
            <a:picLocks noChangeAspect="1"/>
          </p:cNvPicPr>
          <p:nvPr/>
        </p:nvPicPr>
        <p:blipFill>
          <a:blip r:embed="rId3"/>
          <a:stretch>
            <a:fillRect/>
          </a:stretch>
        </p:blipFill>
        <p:spPr>
          <a:xfrm>
            <a:off x="548640" y="3127248"/>
            <a:ext cx="310896" cy="310896"/>
          </a:xfrm>
          <a:prstGeom prst="rect">
            <a:avLst/>
          </a:prstGeom>
        </p:spPr>
      </p:pic>
      <p:sp>
        <p:nvSpPr>
          <p:cNvPr id="10" name="can 3"/>
          <p:cNvSpPr txBox="1"/>
          <p:nvPr/>
        </p:nvSpPr>
        <p:spPr>
          <a:xfrm>
            <a:off x="1005840" y="3099816"/>
            <a:ext cx="5577840" cy="411480"/>
          </a:xfrm>
          <a:prstGeom prst="rect">
            <a:avLst/>
          </a:prstGeom>
          <a:noFill/>
          <a:ln/>
        </p:spPr>
        <p:txBody>
          <a:bodyPr wrap="square" lIns="0" tIns="0" rIns="0" bIns="0" rtlCol="0" anchor="t"/>
          <a:lstStyle/>
          <a:p>
            <a:pPr indent="0" marL="0">
              <a:buNone/>
            </a:pPr>
            <a:r>
              <a:rPr lang="en-US" sz="1500" dirty="0">
                <a:solidFill>
                  <a:schemeClr val="tx1"/>
                </a:solidFill>
              </a:rPr>
              <a:t>Every update graph, including event-driven ones</a:t>
            </a:r>
            <a:endParaRPr lang="en-US" sz="1500" dirty="0"/>
          </a:p>
        </p:txBody>
      </p:sp>
      <p:pic>
        <p:nvPicPr>
          <p:cNvPr id="11" name="can icon 4" descr="check">    </p:cNvPr>
          <p:cNvPicPr>
            <a:picLocks noChangeAspect="1"/>
          </p:cNvPicPr>
          <p:nvPr/>
        </p:nvPicPr>
        <p:blipFill>
          <a:blip r:embed="rId4"/>
          <a:stretch>
            <a:fillRect/>
          </a:stretch>
        </p:blipFill>
        <p:spPr>
          <a:xfrm>
            <a:off x="548640" y="3730752"/>
            <a:ext cx="310896" cy="310896"/>
          </a:xfrm>
          <a:prstGeom prst="rect">
            <a:avLst/>
          </a:prstGeom>
        </p:spPr>
      </p:pic>
      <p:sp>
        <p:nvSpPr>
          <p:cNvPr id="12" name="can 4"/>
          <p:cNvSpPr txBox="1"/>
          <p:nvPr/>
        </p:nvSpPr>
        <p:spPr>
          <a:xfrm>
            <a:off x="1005840" y="3703320"/>
            <a:ext cx="5577840" cy="411480"/>
          </a:xfrm>
          <a:prstGeom prst="rect">
            <a:avLst/>
          </a:prstGeom>
          <a:noFill/>
          <a:ln/>
        </p:spPr>
        <p:txBody>
          <a:bodyPr wrap="square" lIns="0" tIns="0" rIns="0" bIns="0" rtlCol="0" anchor="t"/>
          <a:lstStyle/>
          <a:p>
            <a:pPr indent="0" marL="0">
              <a:buNone/>
            </a:pPr>
            <a:r>
              <a:rPr lang="en-US" sz="1500" dirty="0">
                <a:solidFill>
                  <a:schemeClr val="tx1"/>
                </a:solidFill>
              </a:rPr>
              <a:t>Nodes with per-interval cost and dependencies</a:t>
            </a:r>
            <a:endParaRPr lang="en-US" sz="1500" dirty="0"/>
          </a:p>
        </p:txBody>
      </p:sp>
      <p:pic>
        <p:nvPicPr>
          <p:cNvPr id="13" name="can icon 5" descr="check">    </p:cNvPr>
          <p:cNvPicPr>
            <a:picLocks noChangeAspect="1"/>
          </p:cNvPicPr>
          <p:nvPr/>
        </p:nvPicPr>
        <p:blipFill>
          <a:blip r:embed="rId5"/>
          <a:stretch>
            <a:fillRect/>
          </a:stretch>
        </p:blipFill>
        <p:spPr>
          <a:xfrm>
            <a:off x="548640" y="4334256"/>
            <a:ext cx="310896" cy="310896"/>
          </a:xfrm>
          <a:prstGeom prst="rect">
            <a:avLst/>
          </a:prstGeom>
        </p:spPr>
      </p:pic>
      <p:sp>
        <p:nvSpPr>
          <p:cNvPr id="14" name="can 5"/>
          <p:cNvSpPr txBox="1"/>
          <p:nvPr/>
        </p:nvSpPr>
        <p:spPr>
          <a:xfrm>
            <a:off x="1005840" y="4306824"/>
            <a:ext cx="5577840" cy="411480"/>
          </a:xfrm>
          <a:prstGeom prst="rect">
            <a:avLst/>
          </a:prstGeom>
          <a:noFill/>
          <a:ln/>
        </p:spPr>
        <p:txBody>
          <a:bodyPr wrap="square" lIns="0" tIns="0" rIns="0" bIns="0" rtlCol="0" anchor="t"/>
          <a:lstStyle/>
          <a:p>
            <a:pPr indent="0" marL="0">
              <a:buNone/>
            </a:pPr>
            <a:r>
              <a:rPr lang="en-US" sz="1500" dirty="0">
                <a:solidFill>
                  <a:schemeClr val="tx1"/>
                </a:solidFill>
              </a:rPr>
              <a:t>Listeners vs. the handles that can stop them</a:t>
            </a:r>
            <a:endParaRPr lang="en-US" sz="1500" dirty="0"/>
          </a:p>
        </p:txBody>
      </p:sp>
      <p:pic>
        <p:nvPicPr>
          <p:cNvPr id="15" name="can icon 6" descr="check">    </p:cNvPr>
          <p:cNvPicPr>
            <a:picLocks noChangeAspect="1"/>
          </p:cNvPicPr>
          <p:nvPr/>
        </p:nvPicPr>
        <p:blipFill>
          <a:blip r:embed="rId6"/>
          <a:stretch>
            <a:fillRect/>
          </a:stretch>
        </p:blipFill>
        <p:spPr>
          <a:xfrm>
            <a:off x="548640" y="4937760"/>
            <a:ext cx="310896" cy="310896"/>
          </a:xfrm>
          <a:prstGeom prst="rect">
            <a:avLst/>
          </a:prstGeom>
        </p:spPr>
      </p:pic>
      <p:sp>
        <p:nvSpPr>
          <p:cNvPr id="16" name="can 6"/>
          <p:cNvSpPr txBox="1"/>
          <p:nvPr/>
        </p:nvSpPr>
        <p:spPr>
          <a:xfrm>
            <a:off x="1005840" y="4910328"/>
            <a:ext cx="5577840" cy="411480"/>
          </a:xfrm>
          <a:prstGeom prst="rect">
            <a:avLst/>
          </a:prstGeom>
          <a:noFill/>
          <a:ln/>
        </p:spPr>
        <p:txBody>
          <a:bodyPr wrap="square" lIns="0" tIns="0" rIns="0" bIns="0" rtlCol="0" anchor="t"/>
          <a:lstStyle/>
          <a:p>
            <a:pPr indent="0" marL="0">
              <a:buNone/>
            </a:pPr>
            <a:r>
              <a:rPr lang="en-US" sz="1500" dirty="0">
                <a:solidFill>
                  <a:schemeClr val="tx1"/>
                </a:solidFill>
              </a:rPr>
              <a:t>Unnamed nodes: client exports or leaks</a:t>
            </a:r>
            <a:endParaRPr lang="en-US" sz="1500" dirty="0"/>
          </a:p>
        </p:txBody>
      </p:sp>
      <p:pic>
        <p:nvPicPr>
          <p:cNvPr id="17" name="can icon 7" descr="check">    </p:cNvPr>
          <p:cNvPicPr>
            <a:picLocks noChangeAspect="1"/>
          </p:cNvPicPr>
          <p:nvPr/>
        </p:nvPicPr>
        <p:blipFill>
          <a:blip r:embed="rId7"/>
          <a:stretch>
            <a:fillRect/>
          </a:stretch>
        </p:blipFill>
        <p:spPr>
          <a:xfrm>
            <a:off x="548640" y="5541264"/>
            <a:ext cx="310896" cy="310896"/>
          </a:xfrm>
          <a:prstGeom prst="rect">
            <a:avLst/>
          </a:prstGeom>
        </p:spPr>
      </p:pic>
      <p:sp>
        <p:nvSpPr>
          <p:cNvPr id="18" name="can 7"/>
          <p:cNvSpPr txBox="1"/>
          <p:nvPr/>
        </p:nvSpPr>
        <p:spPr>
          <a:xfrm>
            <a:off x="1005840" y="5513832"/>
            <a:ext cx="5577840" cy="411480"/>
          </a:xfrm>
          <a:prstGeom prst="rect">
            <a:avLst/>
          </a:prstGeom>
          <a:noFill/>
          <a:ln/>
        </p:spPr>
        <p:txBody>
          <a:bodyPr wrap="square" lIns="0" tIns="0" rIns="0" bIns="0" rtlCol="0" anchor="t"/>
          <a:lstStyle/>
          <a:p>
            <a:pPr indent="0" marL="0">
              <a:buNone/>
            </a:pPr>
            <a:r>
              <a:rPr lang="en-US" sz="1500" dirty="0">
                <a:solidFill>
                  <a:schemeClr val="tx1"/>
                </a:solidFill>
              </a:rPr>
              <a:t>Python threads, libraries, executors</a:t>
            </a:r>
            <a:endParaRPr lang="en-US" sz="1500" dirty="0"/>
          </a:p>
        </p:txBody>
      </p:sp>
      <p:sp>
        <p:nvSpPr>
          <p:cNvPr id="19" name="cannot title"/>
          <p:cNvSpPr txBox="1"/>
          <p:nvPr/>
        </p:nvSpPr>
        <p:spPr>
          <a:xfrm>
            <a:off x="6949440" y="1325880"/>
            <a:ext cx="4663440" cy="457200"/>
          </a:xfrm>
          <a:prstGeom prst="rect">
            <a:avLst/>
          </a:prstGeom>
          <a:noFill/>
          <a:ln/>
        </p:spPr>
        <p:txBody>
          <a:bodyPr wrap="square" lIns="0" tIns="0" rIns="0" bIns="0" rtlCol="0" anchor="t"/>
          <a:lstStyle/>
          <a:p>
            <a:pPr indent="0" marL="0">
              <a:buNone/>
            </a:pPr>
            <a:r>
              <a:rPr lang="en-US" sz="1900" b="1" dirty="0">
                <a:solidFill>
                  <a:schemeClr val="tx2"/>
                </a:solidFill>
              </a:rPr>
              <a:t>What it cannot</a:t>
            </a:r>
            <a:endParaRPr lang="en-US" sz="1900" dirty="0"/>
          </a:p>
        </p:txBody>
      </p:sp>
      <p:pic>
        <p:nvPicPr>
          <p:cNvPr id="20" name="cannot icon 1" descr="cross">    </p:cNvPr>
          <p:cNvPicPr>
            <a:picLocks noChangeAspect="1"/>
          </p:cNvPicPr>
          <p:nvPr/>
        </p:nvPicPr>
        <p:blipFill>
          <a:blip r:embed="rId8"/>
          <a:stretch>
            <a:fillRect/>
          </a:stretch>
        </p:blipFill>
        <p:spPr>
          <a:xfrm>
            <a:off x="6949440" y="1920240"/>
            <a:ext cx="310896" cy="310896"/>
          </a:xfrm>
          <a:prstGeom prst="rect">
            <a:avLst/>
          </a:prstGeom>
        </p:spPr>
      </p:pic>
      <p:sp>
        <p:nvSpPr>
          <p:cNvPr id="21" name="cannot 1"/>
          <p:cNvSpPr txBox="1"/>
          <p:nvPr/>
        </p:nvSpPr>
        <p:spPr>
          <a:xfrm>
            <a:off x="7406640" y="1892808"/>
            <a:ext cx="4206240" cy="411480"/>
          </a:xfrm>
          <a:prstGeom prst="rect">
            <a:avLst/>
          </a:prstGeom>
          <a:noFill/>
          <a:ln/>
        </p:spPr>
        <p:txBody>
          <a:bodyPr wrap="square" lIns="0" tIns="0" rIns="0" bIns="0" rtlCol="0" anchor="t"/>
          <a:lstStyle/>
          <a:p>
            <a:pPr indent="0" marL="0">
              <a:buNone/>
            </a:pPr>
            <a:r>
              <a:rPr lang="en-US" sz="1500" dirty="0">
                <a:solidFill>
                  <a:schemeClr val="tx1"/>
                </a:solidFill>
              </a:rPr>
              <a:t>What a listener does inside its Python code</a:t>
            </a:r>
            <a:endParaRPr lang="en-US" sz="1500" dirty="0"/>
          </a:p>
        </p:txBody>
      </p:sp>
      <p:pic>
        <p:nvPicPr>
          <p:cNvPr id="22" name="cannot icon 2" descr="cross">    </p:cNvPr>
          <p:cNvPicPr>
            <a:picLocks noChangeAspect="1"/>
          </p:cNvPicPr>
          <p:nvPr/>
        </p:nvPicPr>
        <p:blipFill>
          <a:blip r:embed="rId9"/>
          <a:stretch>
            <a:fillRect/>
          </a:stretch>
        </p:blipFill>
        <p:spPr>
          <a:xfrm>
            <a:off x="6949440" y="2523744"/>
            <a:ext cx="310896" cy="310896"/>
          </a:xfrm>
          <a:prstGeom prst="rect">
            <a:avLst/>
          </a:prstGeom>
        </p:spPr>
      </p:pic>
      <p:sp>
        <p:nvSpPr>
          <p:cNvPr id="23" name="cannot 2"/>
          <p:cNvSpPr txBox="1"/>
          <p:nvPr/>
        </p:nvSpPr>
        <p:spPr>
          <a:xfrm>
            <a:off x="7406640" y="2496312"/>
            <a:ext cx="4206240" cy="411480"/>
          </a:xfrm>
          <a:prstGeom prst="rect">
            <a:avLst/>
          </a:prstGeom>
          <a:noFill/>
          <a:ln/>
        </p:spPr>
        <p:txBody>
          <a:bodyPr wrap="square" lIns="0" tIns="0" rIns="0" bIns="0" rtlCol="0" anchor="t"/>
          <a:lstStyle/>
          <a:p>
            <a:pPr indent="0" marL="0">
              <a:buNone/>
            </a:pPr>
            <a:r>
              <a:rPr lang="en-US" sz="1500" dirty="0">
                <a:solidFill>
                  <a:schemeClr val="tx1"/>
                </a:solidFill>
              </a:rPr>
              <a:t>Edges for nodes created before the ancestors log opened</a:t>
            </a:r>
            <a:endParaRPr lang="en-US" sz="1500" dirty="0"/>
          </a:p>
        </p:txBody>
      </p:sp>
      <p:pic>
        <p:nvPicPr>
          <p:cNvPr id="24" name="cannot icon 3" descr="cross">    </p:cNvPr>
          <p:cNvPicPr>
            <a:picLocks noChangeAspect="1"/>
          </p:cNvPicPr>
          <p:nvPr/>
        </p:nvPicPr>
        <p:blipFill>
          <a:blip r:embed="rId10"/>
          <a:stretch>
            <a:fillRect/>
          </a:stretch>
        </p:blipFill>
        <p:spPr>
          <a:xfrm>
            <a:off x="6949440" y="3127248"/>
            <a:ext cx="310896" cy="310896"/>
          </a:xfrm>
          <a:prstGeom prst="rect">
            <a:avLst/>
          </a:prstGeom>
        </p:spPr>
      </p:pic>
      <p:sp>
        <p:nvSpPr>
          <p:cNvPr id="25" name="cannot 3"/>
          <p:cNvSpPr txBox="1"/>
          <p:nvPr/>
        </p:nvSpPr>
        <p:spPr>
          <a:xfrm>
            <a:off x="7406640" y="3099816"/>
            <a:ext cx="4206240" cy="411480"/>
          </a:xfrm>
          <a:prstGeom prst="rect">
            <a:avLst/>
          </a:prstGeom>
          <a:noFill/>
          <a:ln/>
        </p:spPr>
        <p:txBody>
          <a:bodyPr wrap="square" lIns="0" tIns="0" rIns="0" bIns="0" rtlCol="0" anchor="t"/>
          <a:lstStyle/>
          <a:p>
            <a:pPr indent="0" marL="0">
              <a:buNone/>
            </a:pPr>
            <a:r>
              <a:rPr lang="en-US" sz="1500" dirty="0">
                <a:solidFill>
                  <a:schemeClr val="tx1"/>
                </a:solidFill>
              </a:rPr>
              <a:t>Ports and memory on Windows (read from /proc)</a:t>
            </a:r>
            <a:endParaRPr lang="en-US" sz="1500" dirty="0"/>
          </a:p>
        </p:txBody>
      </p:sp>
      <p:sp>
        <p:nvSpPr>
          <p:cNvPr id="26" name="ancestors ask"/>
          <p:cNvSpPr/>
          <p:nvPr/>
        </p:nvSpPr>
        <p:spPr>
          <a:xfrm>
            <a:off x="6949440" y="3977640"/>
            <a:ext cx="4690872" cy="1371600"/>
          </a:xfrm>
          <a:prstGeom prst="roundRect">
            <a:avLst>
              <a:gd name="adj" fmla="val 5333"/>
            </a:avLst>
          </a:prstGeom>
          <a:solidFill>
            <a:srgbClr val="FBF3E2"/>
          </a:solidFill>
          <a:ln w="15875">
            <a:solidFill>
              <a:srgbClr val="E0A526"/>
            </a:solidFill>
            <a:prstDash val="solid"/>
          </a:ln>
        </p:spPr>
      </p:sp>
      <p:sp>
        <p:nvSpPr>
          <p:cNvPr id="27" name="ancestors ask text"/>
          <p:cNvSpPr txBox="1"/>
          <p:nvPr/>
        </p:nvSpPr>
        <p:spPr>
          <a:xfrm>
            <a:off x="7178040" y="4114800"/>
            <a:ext cx="4251960" cy="1143000"/>
          </a:xfrm>
          <a:prstGeom prst="rect">
            <a:avLst/>
          </a:prstGeom>
          <a:noFill/>
          <a:ln/>
        </p:spPr>
        <p:txBody>
          <a:bodyPr wrap="square" lIns="0" tIns="0" rIns="0" bIns="0" rtlCol="0" anchor="t"/>
          <a:lstStyle/>
          <a:p>
            <a:pPr indent="0" marL="0">
              <a:buNone/>
            </a:pPr>
            <a:r>
              <a:rPr lang="en-US" sz="1600" b="1" dirty="0">
                <a:solidFill>
                  <a:schemeClr val="tx2"/>
                </a:solidFill>
              </a:rPr>
              <a:t>One ask of every PQ author</a:t>
            </a:r>
            <a:endParaRPr lang="en-US" sz="1500" dirty="0"/>
          </a:p>
          <a:p>
            <a:pPr indent="0" marL="0">
              <a:buNone/>
            </a:pPr>
            <a:r>
              <a:rPr lang="en-US" sz="1500" dirty="0">
                <a:solidFill>
                  <a:schemeClr val="tx1"/>
                </a:solidFill>
              </a:rPr>
              <a:t>Open perfmon.update_performance_ancestors_log() at the top of the startup script, so the full graph can be drawn later.</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200" b="1" dirty="0">
                <a:solidFill>
                  <a:schemeClr val="bg1"/>
                </a:solidFill>
              </a:rPr>
              <a:t>Decisions and next steps</a:t>
            </a:r>
            <a:endParaRPr lang="en-US" sz="3200" dirty="0"/>
          </a:p>
        </p:txBody>
      </p:sp>
      <p:sp>
        <p:nvSpPr>
          <p:cNvPr id="4" name="step 1 circle"/>
          <p:cNvSpPr/>
          <p:nvPr/>
        </p:nvSpPr>
        <p:spPr>
          <a:xfrm>
            <a:off x="548640" y="1691640"/>
            <a:ext cx="822960" cy="822960"/>
          </a:xfrm>
          <a:prstGeom prst="ellipse">
            <a:avLst/>
          </a:prstGeom>
          <a:solidFill>
            <a:schemeClr val="accent2"/>
          </a:solidFill>
          <a:ln w="12700">
            <a:solidFill>
              <a:schemeClr val="accent2"/>
            </a:solidFill>
            <a:prstDash val="solid"/>
          </a:ln>
        </p:spPr>
      </p:sp>
      <p:sp>
        <p:nvSpPr>
          <p:cNvPr id="5" name="step 1 number"/>
          <p:cNvSpPr txBox="1"/>
          <p:nvPr/>
        </p:nvSpPr>
        <p:spPr>
          <a:xfrm>
            <a:off x="548640" y="169164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1</a:t>
            </a:r>
            <a:endParaRPr lang="en-US" sz="3000" dirty="0"/>
          </a:p>
        </p:txBody>
      </p:sp>
      <p:sp>
        <p:nvSpPr>
          <p:cNvPr id="6" name="step 1 title"/>
          <p:cNvSpPr txBox="1"/>
          <p:nvPr/>
        </p:nvSpPr>
        <p:spPr>
          <a:xfrm>
            <a:off x="548640" y="2743200"/>
            <a:ext cx="2606040" cy="8229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Adopt the placement rule</a:t>
            </a:r>
            <a:endParaRPr lang="en-US" sz="2000" dirty="0"/>
          </a:p>
        </p:txBody>
      </p:sp>
      <p:sp>
        <p:nvSpPr>
          <p:cNvPr id="7" name="step 1 body"/>
          <p:cNvSpPr txBox="1"/>
          <p:nvPr/>
        </p:nvSpPr>
        <p:spPr>
          <a:xfrm>
            <a:off x="548640" y="3611880"/>
            <a:ext cx="2606040" cy="1554480"/>
          </a:xfrm>
          <a:prstGeom prst="rect">
            <a:avLst/>
          </a:prstGeom>
          <a:noFill/>
          <a:ln/>
        </p:spPr>
        <p:txBody>
          <a:bodyPr wrap="square" lIns="0" tIns="0" rIns="0" bIns="0" rtlCol="0" anchor="t"/>
          <a:lstStyle/>
          <a:p>
            <a:pPr indent="0" marL="0">
              <a:buNone/>
            </a:pPr>
            <a:r>
              <a:rPr lang="en-US" sz="1500" dirty="0">
                <a:solidFill>
                  <a:schemeClr val="bg2"/>
                </a:solidFill>
              </a:rPr>
              <a:t>Table work in PQs; stateful apps beside them. Exceptions argued case by case.</a:t>
            </a:r>
            <a:endParaRPr lang="en-US" sz="1500" dirty="0"/>
          </a:p>
        </p:txBody>
      </p:sp>
      <p:sp>
        <p:nvSpPr>
          <p:cNvPr id="8" name="step 2 circle"/>
          <p:cNvSpPr/>
          <p:nvPr/>
        </p:nvSpPr>
        <p:spPr>
          <a:xfrm>
            <a:off x="3378098" y="1691640"/>
            <a:ext cx="822960" cy="822960"/>
          </a:xfrm>
          <a:prstGeom prst="ellipse">
            <a:avLst/>
          </a:prstGeom>
          <a:solidFill>
            <a:schemeClr val="accent2"/>
          </a:solidFill>
          <a:ln w="12700">
            <a:solidFill>
              <a:schemeClr val="accent2"/>
            </a:solidFill>
            <a:prstDash val="solid"/>
          </a:ln>
        </p:spPr>
      </p:sp>
      <p:sp>
        <p:nvSpPr>
          <p:cNvPr id="9" name="step 2 number"/>
          <p:cNvSpPr txBox="1"/>
          <p:nvPr/>
        </p:nvSpPr>
        <p:spPr>
          <a:xfrm>
            <a:off x="3378098" y="169164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2</a:t>
            </a:r>
            <a:endParaRPr lang="en-US" sz="3000" dirty="0"/>
          </a:p>
        </p:txBody>
      </p:sp>
      <p:sp>
        <p:nvSpPr>
          <p:cNvPr id="10" name="step 2 title"/>
          <p:cNvSpPr txBox="1"/>
          <p:nvPr/>
        </p:nvSpPr>
        <p:spPr>
          <a:xfrm>
            <a:off x="3378098" y="2743200"/>
            <a:ext cx="2606040" cy="8229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Pave the road for client apps</a:t>
            </a:r>
            <a:endParaRPr lang="en-US" sz="2000" dirty="0"/>
          </a:p>
        </p:txBody>
      </p:sp>
      <p:sp>
        <p:nvSpPr>
          <p:cNvPr id="11" name="step 2 body"/>
          <p:cNvSpPr txBox="1"/>
          <p:nvPr/>
        </p:nvSpPr>
        <p:spPr>
          <a:xfrm>
            <a:off x="3378098" y="3611880"/>
            <a:ext cx="2606040" cy="1554480"/>
          </a:xfrm>
          <a:prstGeom prst="rect">
            <a:avLst/>
          </a:prstGeom>
          <a:noFill/>
          <a:ln/>
        </p:spPr>
        <p:txBody>
          <a:bodyPr wrap="square" lIns="0" tIns="0" rIns="0" bIns="0" rtlCol="0" anchor="t"/>
          <a:lstStyle/>
          <a:p>
            <a:pPr indent="0" marL="0">
              <a:buNone/>
            </a:pPr>
            <a:r>
              <a:rPr lang="en-US" sz="1500" dirty="0">
                <a:solidFill>
                  <a:schemeClr val="bg2"/>
                </a:solidFill>
              </a:rPr>
              <a:t>One approved container template, CI pipeline and service-account connection.</a:t>
            </a:r>
            <a:endParaRPr lang="en-US" sz="1500" dirty="0"/>
          </a:p>
        </p:txBody>
      </p:sp>
      <p:sp>
        <p:nvSpPr>
          <p:cNvPr id="12" name="step 3 circle"/>
          <p:cNvSpPr/>
          <p:nvPr/>
        </p:nvSpPr>
        <p:spPr>
          <a:xfrm>
            <a:off x="6207557" y="1691640"/>
            <a:ext cx="822960" cy="822960"/>
          </a:xfrm>
          <a:prstGeom prst="ellipse">
            <a:avLst/>
          </a:prstGeom>
          <a:solidFill>
            <a:schemeClr val="accent2"/>
          </a:solidFill>
          <a:ln w="12700">
            <a:solidFill>
              <a:schemeClr val="accent2"/>
            </a:solidFill>
            <a:prstDash val="solid"/>
          </a:ln>
        </p:spPr>
      </p:sp>
      <p:sp>
        <p:nvSpPr>
          <p:cNvPr id="13" name="step 3 number"/>
          <p:cNvSpPr txBox="1"/>
          <p:nvPr/>
        </p:nvSpPr>
        <p:spPr>
          <a:xfrm>
            <a:off x="6207557" y="169164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3</a:t>
            </a:r>
            <a:endParaRPr lang="en-US" sz="3000" dirty="0"/>
          </a:p>
        </p:txBody>
      </p:sp>
      <p:sp>
        <p:nvSpPr>
          <p:cNvPr id="14" name="step 3 title"/>
          <p:cNvSpPr txBox="1"/>
          <p:nvPr/>
        </p:nvSpPr>
        <p:spPr>
          <a:xfrm>
            <a:off x="6207557" y="2743200"/>
            <a:ext cx="2606040" cy="8229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Pilot one real algorithm</a:t>
            </a:r>
            <a:endParaRPr lang="en-US" sz="2000" dirty="0"/>
          </a:p>
        </p:txBody>
      </p:sp>
      <p:sp>
        <p:nvSpPr>
          <p:cNvPr id="15" name="step 3 body"/>
          <p:cNvSpPr txBox="1"/>
          <p:nvPr/>
        </p:nvSpPr>
        <p:spPr>
          <a:xfrm>
            <a:off x="6207557" y="3611880"/>
            <a:ext cx="2606040" cy="1554480"/>
          </a:xfrm>
          <a:prstGeom prst="rect">
            <a:avLst/>
          </a:prstGeom>
          <a:noFill/>
          <a:ln/>
        </p:spPr>
        <p:txBody>
          <a:bodyPr wrap="square" lIns="0" tIns="0" rIns="0" bIns="0" rtlCol="0" anchor="t"/>
          <a:lstStyle/>
          <a:p>
            <a:pPr indent="0" marL="0">
              <a:buNone/>
            </a:pPr>
            <a:r>
              <a:rPr lang="en-US" sz="1500" dirty="0">
                <a:solidFill>
                  <a:schemeClr val="bg2"/>
                </a:solidFill>
              </a:rPr>
              <a:t>Event-driven clock; thread-hosted vs. subprocess; measure latency, isolation, risk.</a:t>
            </a:r>
            <a:endParaRPr lang="en-US" sz="1500" dirty="0"/>
          </a:p>
        </p:txBody>
      </p:sp>
      <p:sp>
        <p:nvSpPr>
          <p:cNvPr id="16" name="step 4 circle"/>
          <p:cNvSpPr/>
          <p:nvPr/>
        </p:nvSpPr>
        <p:spPr>
          <a:xfrm>
            <a:off x="9037015" y="1691640"/>
            <a:ext cx="822960" cy="822960"/>
          </a:xfrm>
          <a:prstGeom prst="ellipse">
            <a:avLst/>
          </a:prstGeom>
          <a:solidFill>
            <a:schemeClr val="accent2"/>
          </a:solidFill>
          <a:ln w="12700">
            <a:solidFill>
              <a:schemeClr val="accent2"/>
            </a:solidFill>
            <a:prstDash val="solid"/>
          </a:ln>
        </p:spPr>
      </p:sp>
      <p:sp>
        <p:nvSpPr>
          <p:cNvPr id="17" name="step 4 number"/>
          <p:cNvSpPr txBox="1"/>
          <p:nvPr/>
        </p:nvSpPr>
        <p:spPr>
          <a:xfrm>
            <a:off x="9037015" y="1691640"/>
            <a:ext cx="822960" cy="82296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4</a:t>
            </a:r>
            <a:endParaRPr lang="en-US" sz="3000" dirty="0"/>
          </a:p>
        </p:txBody>
      </p:sp>
      <p:sp>
        <p:nvSpPr>
          <p:cNvPr id="18" name="step 4 title"/>
          <p:cNvSpPr txBox="1"/>
          <p:nvPr/>
        </p:nvSpPr>
        <p:spPr>
          <a:xfrm>
            <a:off x="9037015" y="2743200"/>
            <a:ext cx="2606040" cy="8229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Ask the vendor in writing</a:t>
            </a:r>
            <a:endParaRPr lang="en-US" sz="2000" dirty="0"/>
          </a:p>
        </p:txBody>
      </p:sp>
      <p:sp>
        <p:nvSpPr>
          <p:cNvPr id="19" name="step 4 body"/>
          <p:cNvSpPr txBox="1"/>
          <p:nvPr/>
        </p:nvSpPr>
        <p:spPr>
          <a:xfrm>
            <a:off x="9037015" y="3611880"/>
            <a:ext cx="2606040" cy="1554480"/>
          </a:xfrm>
          <a:prstGeom prst="rect">
            <a:avLst/>
          </a:prstGeom>
          <a:noFill/>
          <a:ln/>
        </p:spPr>
        <p:txBody>
          <a:bodyPr wrap="square" lIns="0" tIns="0" rIns="0" bIns="0" rtlCol="0" anchor="t"/>
          <a:lstStyle/>
          <a:p>
            <a:pPr indent="0" marL="0">
              <a:buNone/>
            </a:pPr>
            <a:r>
              <a:rPr lang="en-US" sz="1500" dirty="0">
                <a:solidFill>
                  <a:schemeClr val="bg2"/>
                </a:solidFill>
              </a:rPr>
              <a:t>Event-driven graphs in PQs, isolation, health checks, shutdown hooks, console attach.</a:t>
            </a:r>
            <a:endParaRPr lang="en-US" sz="1500" dirty="0"/>
          </a:p>
        </p:txBody>
      </p:sp>
      <p:sp>
        <p:nvSpPr>
          <p:cNvPr id="20" name="references"/>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300" i="1" dirty="0">
                <a:solidFill>
                  <a:schemeClr val="bg2"/>
                </a:solidFill>
              </a:rPr>
              <a:t>Repo: deephaven-compare · ledger: VERIFIED_FACTS.md · companion docs: Findings and Guidance, Concepts, Anatomy</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777240"/>
          </a:xfrm>
          <a:prstGeom prst="rect">
            <a:avLst/>
          </a:prstGeom>
          <a:noFill/>
          <a:ln/>
        </p:spPr>
        <p:txBody>
          <a:bodyPr wrap="square" lIns="0" tIns="0" rIns="0" bIns="0" rtlCol="0" anchor="ctr"/>
          <a:lstStyle/>
          <a:p>
            <a:pPr algn="l" indent="0" marL="0">
              <a:buNone/>
            </a:pPr>
            <a:r>
              <a:rPr lang="en-US" sz="3000" b="1" dirty="0">
                <a:solidFill>
                  <a:schemeClr val="tx2"/>
                </a:solidFill>
              </a:rPr>
              <a:t>Appendix: nine earlier claims our tests corrected</a:t>
            </a:r>
            <a:endParaRPr lang="en-US" sz="3000" dirty="0"/>
          </a:p>
        </p:txBody>
      </p:sp>
      <p:graphicFrame>
        <p:nvGraphicFramePr>
          <p:cNvPr id="24" name="corrections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5120640"/>
                <a:gridCol w="5971032"/>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Earlier claim</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F3D5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the tests showed</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solidFill>
                      <a:srgbClr val="0F3D5E"/>
                    </a:solidFill>
                  </a:tcPr>
                </a:tc>
              </a:tr>
              <a:tr h="45720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App-mode scripts need `global` to reach the console scope</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Not on Community 42.6 Python: they run in the global scope</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45720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An underscore keeps a name private</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Underscore names are published as fields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45720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Export tickets look like e/&lt;n&gt;</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e followed by a 4-byte binary number</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45720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A shared ticket can outlive its publisher</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It dies with the publishing session</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45720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One clock per worker</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One by default; more can be added, including event-driven</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45720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No built-in Solace or kdb connector</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Enterprise has Solace streaming import (docs); no kdb connector known</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45720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Unknown whether PQ scripts can come from Git</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Enterprise supports Git-sourced PQ scripts (docs)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45720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Native Windows is unsupported</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The pip server runs with three workarounds</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r h="457200">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get_exec_ctx() works on any thread</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c>
                  <a:txBody>
                    <a:bodyPr/>
                    <a:lstStyle/>
                    <a:p>
                      <a:pPr indent="0" marL="0">
                        <a:buNone/>
                      </a:pPr>
                      <a:r>
                        <a:rPr lang="en-US" sz="1300" dirty="0">
                          <a:solidFill>
                            <a:srgbClr val="17212B"/>
                          </a:solidFill>
                          <a:latin typeface="Calibri" pitchFamily="34" charset="0"/>
                          <a:ea typeface="Calibri" pitchFamily="34" charset="-122"/>
                          <a:cs typeface="Calibri" pitchFamily="34" charset="-120"/>
                        </a:rPr>
                        <a:t>Only on a thread that already holds a real context</a:t>
                      </a:r>
                      <a:endParaRPr lang="en-US" sz="1300" dirty="0">
                        <a:latin typeface="Calibri" charset="0"/>
                        <a:ea typeface="Calibri" charset="0"/>
                        <a:cs typeface="Calibri" charset="0"/>
                      </a:endParaRPr>
                    </a:p>
                  </a:txBody>
                  <a:tcPr marL="73152" marR="73152" marT="45720" marB="45720" anchor="ctr">
                    <a:lnL w="9525" cap="flat" cmpd="sng" algn="ctr">
                      <a:solidFill>
                        <a:srgbClr val="C9D3DE"/>
                      </a:solidFill>
                      <a:prstDash val="solid"/>
                      <a:round/>
                      <a:headEnd type="none" w="med" len="med"/>
                      <a:tailEnd type="none" w="med" len="med"/>
                    </a:lnL>
                    <a:lnR w="9525" cap="flat" cmpd="sng" algn="ctr">
                      <a:solidFill>
                        <a:srgbClr val="C9D3DE"/>
                      </a:solidFill>
                      <a:prstDash val="solid"/>
                      <a:round/>
                      <a:headEnd type="none" w="med" len="med"/>
                      <a:tailEnd type="none" w="med" len="med"/>
                    </a:lnR>
                    <a:lnT w="9525" cap="flat" cmpd="sng" algn="ctr">
                      <a:solidFill>
                        <a:srgbClr val="C9D3DE"/>
                      </a:solidFill>
                      <a:prstDash val="solid"/>
                      <a:round/>
                      <a:headEnd type="none" w="med" len="med"/>
                      <a:tailEnd type="none" w="med" len="med"/>
                    </a:lnT>
                    <a:lnB w="9525" cap="flat" cmpd="sng" algn="ctr">
                      <a:solidFill>
                        <a:srgbClr val="C9D3D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Deephaven Runtime">
  <a:themeElements>
    <a:clrScheme name="Deephaven Runtime">
      <a:dk1>
        <a:srgbClr val="17212B"/>
      </a:dk1>
      <a:lt1>
        <a:srgbClr val="FFFFFF"/>
      </a:lt1>
      <a:dk2>
        <a:srgbClr val="0F3D5E"/>
      </a:dk2>
      <a:lt2>
        <a:srgbClr val="EEF2F6"/>
      </a:lt2>
      <a:accent1>
        <a:srgbClr val="2F6FDB"/>
      </a:accent1>
      <a:accent2>
        <a:srgbClr val="E8743B"/>
      </a:accent2>
      <a:accent3>
        <a:srgbClr val="2E9E6A"/>
      </a:accent3>
      <a:accent4>
        <a:srgbClr val="E0A526"/>
      </a:accent4>
      <a:accent5>
        <a:srgbClr val="5F6F82"/>
      </a:accent5>
      <a:accent6>
        <a:srgbClr val="8A5CC2"/>
      </a:accent6>
      <a:hlink>
        <a:srgbClr val="2F6FDB"/>
      </a:hlink>
      <a:folHlink>
        <a:srgbClr val="5F6F82"/>
      </a:folHlink>
    </a:clrScheme>
    <a:fontScheme name="Deephaven Runtim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Deephaven as an Application Framework</dc:title>
  <dc:subject>How the Deephaven runtime behaves, tested on Community 42.6</dc:subject>
  <dc:creator>Taylor</dc:creator>
  <cp:lastModifiedBy>Taylor</cp:lastModifiedBy>
  <cp:revision>1</cp:revision>
  <dcterms:created xsi:type="dcterms:W3CDTF">2026-10-20T16:17:11Z</dcterms:created>
  <dcterms:modified xsi:type="dcterms:W3CDTF">2026-10-20T16:17:11Z</dcterms:modified>
</cp:coreProperties>
</file>